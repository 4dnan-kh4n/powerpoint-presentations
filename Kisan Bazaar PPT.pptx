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ricolage Grotesque" panose="020B0604020202020204" charset="0"/>
      <p:regular r:id="rId8"/>
    </p:embeddedFont>
    <p:embeddedFont>
      <p:font typeface="Bricolage Grotesque Bold" panose="020B0604020202020204" charset="0"/>
      <p:regular r:id="rId9"/>
    </p:embeddedFont>
    <p:embeddedFont>
      <p:font typeface="Bricolage Grotesque Ultra-Bold" panose="020B0604020202020204" charset="0"/>
      <p:regular r:id="rId10"/>
    </p:embeddedFont>
    <p:embeddedFont>
      <p:font typeface="Roboto" panose="02000000000000000000" pitchFamily="2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9" autoAdjust="0"/>
    <p:restoredTop sz="94622" autoAdjust="0"/>
  </p:normalViewPr>
  <p:slideViewPr>
    <p:cSldViewPr>
      <p:cViewPr varScale="1">
        <p:scale>
          <a:sx n="52" d="100"/>
          <a:sy n="52" d="100"/>
        </p:scale>
        <p:origin x="3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3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26" Type="http://schemas.openxmlformats.org/officeDocument/2006/relationships/image" Target="../media/image99.png"/><Relationship Id="rId3" Type="http://schemas.openxmlformats.org/officeDocument/2006/relationships/image" Target="../media/image76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5" Type="http://schemas.openxmlformats.org/officeDocument/2006/relationships/image" Target="../media/image98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97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10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0080" y="554662"/>
            <a:ext cx="8375904" cy="210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2"/>
              </a:lnSpc>
            </a:pPr>
            <a:r>
              <a:rPr lang="en-US" sz="7466" b="1">
                <a:solidFill>
                  <a:srgbClr val="385920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Team &amp; 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776725"/>
            <a:ext cx="1104718" cy="229572"/>
          </a:xfrm>
          <a:custGeom>
            <a:avLst/>
            <a:gdLst/>
            <a:ahLst/>
            <a:cxnLst/>
            <a:rect l="l" t="t" r="r" b="b"/>
            <a:pathLst>
              <a:path w="1104718" h="229572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6656" y="3193967"/>
            <a:ext cx="3931920" cy="71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3"/>
              </a:lnSpc>
            </a:pPr>
            <a:r>
              <a:rPr lang="en-US" sz="5085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" y="3974865"/>
            <a:ext cx="4663440" cy="422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909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From Crop to Best 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6656" y="4638240"/>
            <a:ext cx="5998464" cy="81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3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PS-10 Farm-to-Market Intelligence Platform</a:t>
            </a:r>
          </a:p>
          <a:p>
            <a:pPr algn="l">
              <a:lnSpc>
                <a:spcPts val="3285"/>
              </a:lnSpc>
            </a:pPr>
            <a:r>
              <a:rPr lang="en-US" sz="234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TRACK 05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5564382"/>
            <a:ext cx="6322048" cy="1508614"/>
          </a:xfrm>
          <a:custGeom>
            <a:avLst/>
            <a:gdLst/>
            <a:ahLst/>
            <a:cxnLst/>
            <a:rect l="l" t="t" r="r" b="b"/>
            <a:pathLst>
              <a:path w="6322048" h="1508614">
                <a:moveTo>
                  <a:pt x="0" y="0"/>
                </a:moveTo>
                <a:lnTo>
                  <a:pt x="6322048" y="0"/>
                </a:lnTo>
                <a:lnTo>
                  <a:pt x="6322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60704" y="6049335"/>
            <a:ext cx="5065776" cy="67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228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 helps farmers</a:t>
            </a:r>
          </a:p>
          <a:p>
            <a:pPr algn="l">
              <a:lnSpc>
                <a:spcPts val="2674"/>
              </a:lnSpc>
            </a:pPr>
            <a:r>
              <a:rPr lang="en-US" sz="2228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find a better place to sell their crops.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7280704"/>
            <a:ext cx="4364182" cy="655919"/>
          </a:xfrm>
          <a:custGeom>
            <a:avLst/>
            <a:gdLst/>
            <a:ahLst/>
            <a:cxnLst/>
            <a:rect l="l" t="t" r="r" b="b"/>
            <a:pathLst>
              <a:path w="4364182" h="655919">
                <a:moveTo>
                  <a:pt x="0" y="0"/>
                </a:moveTo>
                <a:lnTo>
                  <a:pt x="4364182" y="0"/>
                </a:lnTo>
                <a:lnTo>
                  <a:pt x="436418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5330" y="7707051"/>
            <a:ext cx="5239206" cy="2153601"/>
          </a:xfrm>
          <a:custGeom>
            <a:avLst/>
            <a:gdLst/>
            <a:ahLst/>
            <a:cxnLst/>
            <a:rect l="l" t="t" r="r" b="b"/>
            <a:pathLst>
              <a:path w="5239206" h="2153601">
                <a:moveTo>
                  <a:pt x="0" y="0"/>
                </a:moveTo>
                <a:lnTo>
                  <a:pt x="5239206" y="0"/>
                </a:lnTo>
                <a:lnTo>
                  <a:pt x="523920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69264" y="8216504"/>
            <a:ext cx="3108960" cy="1226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lang="en-US" sz="208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Adnan Khan</a:t>
            </a:r>
          </a:p>
          <a:p>
            <a:pPr algn="l">
              <a:lnSpc>
                <a:spcPts val="3328"/>
              </a:lnSpc>
            </a:pPr>
            <a:r>
              <a:rPr lang="en-US" sz="208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Tushar Soni</a:t>
            </a:r>
          </a:p>
          <a:p>
            <a:pPr algn="l">
              <a:lnSpc>
                <a:spcPts val="3328"/>
              </a:lnSpc>
            </a:pPr>
            <a:r>
              <a:rPr lang="en-US" sz="208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Shranshikhha Somkuwar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1071335"/>
            <a:ext cx="2614134" cy="5793953"/>
          </a:xfrm>
          <a:custGeom>
            <a:avLst/>
            <a:gdLst/>
            <a:ahLst/>
            <a:cxnLst/>
            <a:rect l="l" t="t" r="r" b="b"/>
            <a:pathLst>
              <a:path w="2614134" h="5793953">
                <a:moveTo>
                  <a:pt x="0" y="0"/>
                </a:moveTo>
                <a:lnTo>
                  <a:pt x="2614134" y="0"/>
                </a:lnTo>
                <a:lnTo>
                  <a:pt x="2614134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83110" y="1279043"/>
            <a:ext cx="4801694" cy="5793953"/>
          </a:xfrm>
          <a:custGeom>
            <a:avLst/>
            <a:gdLst/>
            <a:ahLst/>
            <a:cxnLst/>
            <a:rect l="l" t="t" r="r" b="b"/>
            <a:pathLst>
              <a:path w="4801694" h="5793953">
                <a:moveTo>
                  <a:pt x="0" y="0"/>
                </a:moveTo>
                <a:lnTo>
                  <a:pt x="4801694" y="0"/>
                </a:lnTo>
                <a:lnTo>
                  <a:pt x="4801694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98842" y="2569017"/>
            <a:ext cx="2843828" cy="3651284"/>
          </a:xfrm>
          <a:custGeom>
            <a:avLst/>
            <a:gdLst/>
            <a:ahLst/>
            <a:cxnLst/>
            <a:rect l="l" t="t" r="r" b="b"/>
            <a:pathLst>
              <a:path w="2843828" h="3651284">
                <a:moveTo>
                  <a:pt x="0" y="0"/>
                </a:moveTo>
                <a:lnTo>
                  <a:pt x="2843828" y="0"/>
                </a:lnTo>
                <a:lnTo>
                  <a:pt x="284382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764256" y="2746918"/>
            <a:ext cx="877824" cy="38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Scope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51024" y="3446731"/>
            <a:ext cx="2377440" cy="225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9"/>
              </a:lnSpc>
            </a:pPr>
            <a:r>
              <a:rPr lang="en-US" sz="185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MP districts</a:t>
            </a:r>
          </a:p>
          <a:p>
            <a:pPr algn="l">
              <a:lnSpc>
                <a:spcPts val="4629"/>
              </a:lnSpc>
            </a:pPr>
            <a:r>
              <a:rPr lang="en-US" sz="185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All crops grown in MP</a:t>
            </a:r>
          </a:p>
          <a:p>
            <a:pPr algn="l">
              <a:lnSpc>
                <a:spcPts val="4629"/>
              </a:lnSpc>
            </a:pPr>
            <a:r>
              <a:rPr lang="en-US" sz="185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Hindi and English</a:t>
            </a:r>
          </a:p>
          <a:p>
            <a:pPr algn="l">
              <a:lnSpc>
                <a:spcPts val="4629"/>
              </a:lnSpc>
            </a:pPr>
            <a:r>
              <a:rPr lang="en-US" sz="185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Android application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7175196" y="6854356"/>
            <a:ext cx="2843828" cy="3224936"/>
          </a:xfrm>
          <a:custGeom>
            <a:avLst/>
            <a:gdLst/>
            <a:ahLst/>
            <a:cxnLst/>
            <a:rect l="l" t="t" r="r" b="b"/>
            <a:pathLst>
              <a:path w="2843828" h="3224936">
                <a:moveTo>
                  <a:pt x="0" y="0"/>
                </a:moveTo>
                <a:lnTo>
                  <a:pt x="2843828" y="0"/>
                </a:lnTo>
                <a:lnTo>
                  <a:pt x="284382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612708" y="7280704"/>
            <a:ext cx="1968804" cy="1934962"/>
          </a:xfrm>
          <a:custGeom>
            <a:avLst/>
            <a:gdLst/>
            <a:ahLst/>
            <a:cxnLst/>
            <a:rect l="l" t="t" r="r" b="b"/>
            <a:pathLst>
              <a:path w="1968804" h="1934962">
                <a:moveTo>
                  <a:pt x="0" y="0"/>
                </a:moveTo>
                <a:lnTo>
                  <a:pt x="1968804" y="0"/>
                </a:lnTo>
                <a:lnTo>
                  <a:pt x="196880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101584" y="9289074"/>
            <a:ext cx="1005840" cy="38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228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445598" y="6854356"/>
            <a:ext cx="3062584" cy="3224936"/>
          </a:xfrm>
          <a:custGeom>
            <a:avLst/>
            <a:gdLst/>
            <a:ahLst/>
            <a:cxnLst/>
            <a:rect l="l" t="t" r="r" b="b"/>
            <a:pathLst>
              <a:path w="3062584" h="3224936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528440" y="7062064"/>
            <a:ext cx="1104718" cy="2153601"/>
          </a:xfrm>
          <a:custGeom>
            <a:avLst/>
            <a:gdLst/>
            <a:ahLst/>
            <a:cxnLst/>
            <a:rect l="l" t="t" r="r" b="b"/>
            <a:pathLst>
              <a:path w="1104718" h="2153601">
                <a:moveTo>
                  <a:pt x="0" y="0"/>
                </a:moveTo>
                <a:lnTo>
                  <a:pt x="1104718" y="0"/>
                </a:lnTo>
                <a:lnTo>
                  <a:pt x="110471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210544" y="9289074"/>
            <a:ext cx="1719072" cy="38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228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142574" y="6854356"/>
            <a:ext cx="3281340" cy="3224936"/>
          </a:xfrm>
          <a:custGeom>
            <a:avLst/>
            <a:gdLst/>
            <a:ahLst/>
            <a:cxnLst/>
            <a:rect l="l" t="t" r="r" b="b"/>
            <a:pathLst>
              <a:path w="3281340" h="3224936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4798842" y="7062064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465808" y="9289450"/>
            <a:ext cx="2560320" cy="38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Best selling option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9789330" y="7925691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278488" y="7925691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 rot="270000">
            <a:off x="9641021" y="1821643"/>
            <a:ext cx="1828800" cy="40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5"/>
              </a:lnSpc>
            </a:pPr>
            <a:r>
              <a:rPr lang="en-US" sz="2346" b="1">
                <a:solidFill>
                  <a:srgbClr val="38592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</a:t>
            </a:r>
          </a:p>
        </p:txBody>
      </p:sp>
      <p:sp>
        <p:nvSpPr>
          <p:cNvPr id="30" name="TextBox 30"/>
          <p:cNvSpPr txBox="1"/>
          <p:nvPr/>
        </p:nvSpPr>
        <p:spPr>
          <a:xfrm rot="270000">
            <a:off x="9639187" y="2238301"/>
            <a:ext cx="1828800" cy="20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lang="en-US" sz="1178">
                <a:solidFill>
                  <a:srgbClr val="38592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From Crop to Best Market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9264" y="7421802"/>
            <a:ext cx="3163824" cy="37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TEAM: HACK HORIZON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2336" y="348380"/>
            <a:ext cx="8193024" cy="94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7"/>
              </a:lnSpc>
            </a:pPr>
            <a:r>
              <a:rPr lang="en-US" sz="5569" b="1">
                <a:solidFill>
                  <a:srgbClr val="203B1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Problem Understanding</a:t>
            </a:r>
          </a:p>
        </p:txBody>
      </p:sp>
      <p:sp>
        <p:nvSpPr>
          <p:cNvPr id="4" name="Freeform 4"/>
          <p:cNvSpPr/>
          <p:nvPr/>
        </p:nvSpPr>
        <p:spPr>
          <a:xfrm>
            <a:off x="207818" y="1705390"/>
            <a:ext cx="8728364" cy="1519546"/>
          </a:xfrm>
          <a:custGeom>
            <a:avLst/>
            <a:gdLst/>
            <a:ahLst/>
            <a:cxnLst/>
            <a:rect l="l" t="t" r="r" b="b"/>
            <a:pathLst>
              <a:path w="8728364" h="1519546">
                <a:moveTo>
                  <a:pt x="0" y="0"/>
                </a:moveTo>
                <a:lnTo>
                  <a:pt x="8728364" y="0"/>
                </a:lnTo>
                <a:lnTo>
                  <a:pt x="872836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0976" y="1958855"/>
            <a:ext cx="7315200" cy="78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1"/>
              </a:lnSpc>
            </a:pPr>
            <a:r>
              <a:rPr lang="en-US" sz="2215" b="1">
                <a:solidFill>
                  <a:srgbClr val="203B1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Farmers can see crop prices, but price alone does not show which option gives them more money.</a:t>
            </a:r>
          </a:p>
        </p:txBody>
      </p:sp>
      <p:sp>
        <p:nvSpPr>
          <p:cNvPr id="6" name="Freeform 6"/>
          <p:cNvSpPr/>
          <p:nvPr/>
        </p:nvSpPr>
        <p:spPr>
          <a:xfrm>
            <a:off x="207818" y="2995365"/>
            <a:ext cx="4582938" cy="5793953"/>
          </a:xfrm>
          <a:custGeom>
            <a:avLst/>
            <a:gdLst/>
            <a:ahLst/>
            <a:cxnLst/>
            <a:rect l="l" t="t" r="r" b="b"/>
            <a:pathLst>
              <a:path w="4582938" h="5793953">
                <a:moveTo>
                  <a:pt x="0" y="0"/>
                </a:moveTo>
                <a:lnTo>
                  <a:pt x="4582938" y="0"/>
                </a:lnTo>
                <a:lnTo>
                  <a:pt x="458293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6574" y="3214004"/>
            <a:ext cx="2843828" cy="863627"/>
          </a:xfrm>
          <a:custGeom>
            <a:avLst/>
            <a:gdLst/>
            <a:ahLst/>
            <a:cxnLst/>
            <a:rect l="l" t="t" r="r" b="b"/>
            <a:pathLst>
              <a:path w="2843828" h="863627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7824" y="3477510"/>
            <a:ext cx="2066544" cy="39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1"/>
              </a:lnSpc>
            </a:pPr>
            <a:r>
              <a:rPr lang="en-US" sz="2215" b="1">
                <a:solidFill>
                  <a:srgbClr val="F6F6E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Main Problems</a:t>
            </a:r>
          </a:p>
        </p:txBody>
      </p:sp>
      <p:sp>
        <p:nvSpPr>
          <p:cNvPr id="9" name="Freeform 9"/>
          <p:cNvSpPr/>
          <p:nvPr/>
        </p:nvSpPr>
        <p:spPr>
          <a:xfrm>
            <a:off x="4779818" y="2995365"/>
            <a:ext cx="4156364" cy="5793953"/>
          </a:xfrm>
          <a:custGeom>
            <a:avLst/>
            <a:gdLst/>
            <a:ahLst/>
            <a:cxnLst/>
            <a:rect l="l" t="t" r="r" b="b"/>
            <a:pathLst>
              <a:path w="4156364" h="5793953">
                <a:moveTo>
                  <a:pt x="0" y="0"/>
                </a:moveTo>
                <a:lnTo>
                  <a:pt x="4156364" y="0"/>
                </a:lnTo>
                <a:lnTo>
                  <a:pt x="4156364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98574" y="3214004"/>
            <a:ext cx="2843828" cy="863627"/>
          </a:xfrm>
          <a:custGeom>
            <a:avLst/>
            <a:gdLst/>
            <a:ahLst/>
            <a:cxnLst/>
            <a:rect l="l" t="t" r="r" b="b"/>
            <a:pathLst>
              <a:path w="2843828" h="863627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394960" y="3477510"/>
            <a:ext cx="2176272" cy="39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1"/>
              </a:lnSpc>
            </a:pPr>
            <a:r>
              <a:rPr lang="en-US" sz="2215" b="1">
                <a:solidFill>
                  <a:srgbClr val="F6F6E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People Involved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25244" y="426348"/>
            <a:ext cx="9154938" cy="863627"/>
          </a:xfrm>
          <a:custGeom>
            <a:avLst/>
            <a:gdLst/>
            <a:ahLst/>
            <a:cxnLst/>
            <a:rect l="l" t="t" r="r" b="b"/>
            <a:pathLst>
              <a:path w="9154938" h="863627">
                <a:moveTo>
                  <a:pt x="0" y="0"/>
                </a:moveTo>
                <a:lnTo>
                  <a:pt x="9154938" y="0"/>
                </a:lnTo>
                <a:lnTo>
                  <a:pt x="915493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925244" y="1071335"/>
            <a:ext cx="9154938" cy="5367606"/>
          </a:xfrm>
          <a:custGeom>
            <a:avLst/>
            <a:gdLst/>
            <a:ahLst/>
            <a:cxnLst/>
            <a:rect l="l" t="t" r="r" b="b"/>
            <a:pathLst>
              <a:path w="9154938" h="5367606">
                <a:moveTo>
                  <a:pt x="0" y="0"/>
                </a:moveTo>
                <a:lnTo>
                  <a:pt x="9154938" y="0"/>
                </a:lnTo>
                <a:lnTo>
                  <a:pt x="915493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83110" y="1924030"/>
            <a:ext cx="3707914" cy="655919"/>
          </a:xfrm>
          <a:custGeom>
            <a:avLst/>
            <a:gdLst/>
            <a:ahLst/>
            <a:cxnLst/>
            <a:rect l="l" t="t" r="r" b="b"/>
            <a:pathLst>
              <a:path w="3707914" h="655919">
                <a:moveTo>
                  <a:pt x="0" y="0"/>
                </a:moveTo>
                <a:lnTo>
                  <a:pt x="3707914" y="0"/>
                </a:lnTo>
                <a:lnTo>
                  <a:pt x="370791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361330" y="1924030"/>
            <a:ext cx="3718852" cy="655919"/>
          </a:xfrm>
          <a:custGeom>
            <a:avLst/>
            <a:gdLst/>
            <a:ahLst/>
            <a:cxnLst/>
            <a:rect l="l" t="t" r="r" b="b"/>
            <a:pathLst>
              <a:path w="3718852" h="655919">
                <a:moveTo>
                  <a:pt x="0" y="0"/>
                </a:moveTo>
                <a:lnTo>
                  <a:pt x="3718852" y="0"/>
                </a:lnTo>
                <a:lnTo>
                  <a:pt x="371885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925244" y="2350377"/>
            <a:ext cx="2187560" cy="4088563"/>
          </a:xfrm>
          <a:custGeom>
            <a:avLst/>
            <a:gdLst/>
            <a:ahLst/>
            <a:cxnLst/>
            <a:rect l="l" t="t" r="r" b="b"/>
            <a:pathLst>
              <a:path w="2187560" h="4088563">
                <a:moveTo>
                  <a:pt x="0" y="0"/>
                </a:moveTo>
                <a:lnTo>
                  <a:pt x="2187560" y="0"/>
                </a:lnTo>
                <a:lnTo>
                  <a:pt x="218756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361330" y="5138034"/>
            <a:ext cx="3718852" cy="1300906"/>
          </a:xfrm>
          <a:custGeom>
            <a:avLst/>
            <a:gdLst/>
            <a:ahLst/>
            <a:cxnLst/>
            <a:rect l="l" t="t" r="r" b="b"/>
            <a:pathLst>
              <a:path w="3718852" h="1300906">
                <a:moveTo>
                  <a:pt x="0" y="0"/>
                </a:moveTo>
                <a:lnTo>
                  <a:pt x="3718852" y="0"/>
                </a:lnTo>
                <a:lnTo>
                  <a:pt x="371885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925244" y="6209369"/>
            <a:ext cx="9154938" cy="2579949"/>
          </a:xfrm>
          <a:custGeom>
            <a:avLst/>
            <a:gdLst/>
            <a:ahLst/>
            <a:cxnLst/>
            <a:rect l="l" t="t" r="r" b="b"/>
            <a:pathLst>
              <a:path w="9154938" h="2579949">
                <a:moveTo>
                  <a:pt x="0" y="0"/>
                </a:moveTo>
                <a:lnTo>
                  <a:pt x="9154938" y="0"/>
                </a:lnTo>
                <a:lnTo>
                  <a:pt x="915493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497244" y="7280704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4538960" y="6809095"/>
            <a:ext cx="3182112" cy="157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sz="2524" b="1">
                <a:solidFill>
                  <a:srgbClr val="228F22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Buyer B is the better option because the farmer receives ₹4,000 more.</a:t>
            </a:r>
          </a:p>
        </p:txBody>
      </p:sp>
      <p:sp>
        <p:nvSpPr>
          <p:cNvPr id="21" name="Freeform 21"/>
          <p:cNvSpPr/>
          <p:nvPr/>
        </p:nvSpPr>
        <p:spPr>
          <a:xfrm>
            <a:off x="0" y="8778386"/>
            <a:ext cx="18288000" cy="1508614"/>
          </a:xfrm>
          <a:custGeom>
            <a:avLst/>
            <a:gdLst/>
            <a:ahLst/>
            <a:cxnLst/>
            <a:rect l="l" t="t" r="r" b="b"/>
            <a:pathLst>
              <a:path w="18288000" h="1508614">
                <a:moveTo>
                  <a:pt x="0" y="0"/>
                </a:moveTo>
                <a:lnTo>
                  <a:pt x="18288000" y="0"/>
                </a:lnTo>
                <a:lnTo>
                  <a:pt x="1828800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200400" y="9246217"/>
            <a:ext cx="11887200" cy="88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sz="3151" b="1">
                <a:solidFill>
                  <a:srgbClr val="203B11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Price alone does not show the full money in the farmer’s pocket. We must compare all costs to choose the best option.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3232" y="4285982"/>
            <a:ext cx="3108960" cy="31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1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Price info from many places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232" y="4872888"/>
            <a:ext cx="2670048" cy="31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Transport can cost a lot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3232" y="5459247"/>
            <a:ext cx="2468880" cy="31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Some buyers pay late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3232" y="6045606"/>
            <a:ext cx="3566160" cy="31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Some buyers can’t buy full crop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3232" y="6631418"/>
            <a:ext cx="3566160" cy="31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1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Storage costs and crop loss risk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3232" y="7218324"/>
            <a:ext cx="3639312" cy="31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Old info can cause wrong choice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3232" y="7804136"/>
            <a:ext cx="3840480" cy="31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1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Government selling steps are hard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85232" y="4285982"/>
            <a:ext cx="932688" cy="31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1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Farmers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85232" y="4872341"/>
            <a:ext cx="786384" cy="31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51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Buyers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85232" y="5459247"/>
            <a:ext cx="822960" cy="31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Mandis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85232" y="6045606"/>
            <a:ext cx="1426464" cy="317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Warehouses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85232" y="6627045"/>
            <a:ext cx="2304288" cy="32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1937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Transport providers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85232" y="7284755"/>
            <a:ext cx="2304288" cy="53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1"/>
              </a:lnSpc>
            </a:pPr>
            <a:r>
              <a:rPr lang="en-US" sz="1937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Government procurement teams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90304" y="7836606"/>
            <a:ext cx="3511296" cy="635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19" dirty="0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Buyer B gives ₹4,000 more</a:t>
            </a:r>
          </a:p>
          <a:p>
            <a:pPr algn="l">
              <a:lnSpc>
                <a:spcPts val="2547"/>
              </a:lnSpc>
            </a:pPr>
            <a:r>
              <a:rPr lang="en-US" sz="1819" dirty="0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(₹2,22,000 - ₹2,18,000 = ₹4,000)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90304" y="6635684"/>
            <a:ext cx="3657600" cy="28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706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Buyer A has higher price per quintal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90304" y="7242617"/>
            <a:ext cx="3364992" cy="289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706">
                <a:solidFill>
                  <a:srgbClr val="203B1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Buyer B has lower transport cost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429FA0-14FE-5E8E-E9EA-7672B0618DB4}"/>
              </a:ext>
            </a:extLst>
          </p:cNvPr>
          <p:cNvSpPr>
            <a:spLocks noGrp="1"/>
          </p:cNvSpPr>
          <p:nvPr/>
        </p:nvSpPr>
        <p:spPr>
          <a:xfrm>
            <a:off x="11597786" y="718476"/>
            <a:ext cx="4023214" cy="401878"/>
          </a:xfrm>
          <a:prstGeom prst="rect">
            <a:avLst/>
          </a:prstGeom>
          <a:noFill/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657266"/>
                </a:solidFill>
                <a:latin typeface="Roboto"/>
                <a:ea typeface="Roboto"/>
                <a:cs typeface="Roboto"/>
              </a:defRPr>
            </a:pPr>
            <a:r>
              <a:rPr sz="1650" b="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Example for 100 quintals of crop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C5EB7B-50C7-CD34-4683-B1D84F66E08B}"/>
              </a:ext>
            </a:extLst>
          </p:cNvPr>
          <p:cNvSpPr txBox="1"/>
          <p:nvPr/>
        </p:nvSpPr>
        <p:spPr>
          <a:xfrm>
            <a:off x="9183998" y="2061825"/>
            <a:ext cx="1637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Roboto"/>
                <a:ea typeface="Roboto"/>
                <a:cs typeface="Roboto"/>
              </a:rPr>
              <a:t>Calculation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1783AB-D7FE-85D1-903A-38D1995900C4}"/>
              </a:ext>
            </a:extLst>
          </p:cNvPr>
          <p:cNvSpPr txBox="1"/>
          <p:nvPr/>
        </p:nvSpPr>
        <p:spPr>
          <a:xfrm>
            <a:off x="11668906" y="2061826"/>
            <a:ext cx="2260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Buyer A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D7839E-FCA7-6664-2346-7B8E7F7CD85B}"/>
              </a:ext>
            </a:extLst>
          </p:cNvPr>
          <p:cNvSpPr txBox="1"/>
          <p:nvPr/>
        </p:nvSpPr>
        <p:spPr>
          <a:xfrm>
            <a:off x="15141030" y="2061825"/>
            <a:ext cx="1637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Buyer 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B28419-F341-94C2-34FD-D3D6BC99D6D9}"/>
              </a:ext>
            </a:extLst>
          </p:cNvPr>
          <p:cNvSpPr txBox="1"/>
          <p:nvPr/>
        </p:nvSpPr>
        <p:spPr>
          <a:xfrm>
            <a:off x="9183998" y="2672838"/>
            <a:ext cx="1899230" cy="65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34D28"/>
                </a:solidFill>
                <a:latin typeface="Roboto"/>
                <a:ea typeface="Roboto"/>
                <a:cs typeface="Roboto"/>
              </a:rPr>
              <a:t>Price per quintal</a:t>
            </a:r>
          </a:p>
          <a:p>
            <a:endParaRPr lang="en-I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4CB4E5-5515-F34A-37A1-1318DF147419}"/>
              </a:ext>
            </a:extLst>
          </p:cNvPr>
          <p:cNvSpPr txBox="1"/>
          <p:nvPr/>
        </p:nvSpPr>
        <p:spPr>
          <a:xfrm>
            <a:off x="9183998" y="3244807"/>
            <a:ext cx="1637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34D28"/>
                </a:solidFill>
                <a:latin typeface="Roboto"/>
                <a:ea typeface="Roboto"/>
                <a:cs typeface="Roboto"/>
              </a:rPr>
              <a:t>Quantity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2F0FB8-81D1-B1E0-3D79-AD2103351CBB}"/>
              </a:ext>
            </a:extLst>
          </p:cNvPr>
          <p:cNvSpPr txBox="1"/>
          <p:nvPr/>
        </p:nvSpPr>
        <p:spPr>
          <a:xfrm>
            <a:off x="9183998" y="3883093"/>
            <a:ext cx="1899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34D28"/>
                </a:solidFill>
                <a:latin typeface="Roboto"/>
                <a:ea typeface="Roboto"/>
                <a:cs typeface="Roboto"/>
              </a:rPr>
              <a:t>Gross amount</a:t>
            </a:r>
          </a:p>
          <a:p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06349B-EEEE-CA20-64B3-6E39225FB049}"/>
              </a:ext>
            </a:extLst>
          </p:cNvPr>
          <p:cNvSpPr txBox="1"/>
          <p:nvPr/>
        </p:nvSpPr>
        <p:spPr>
          <a:xfrm>
            <a:off x="9183998" y="4491927"/>
            <a:ext cx="209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34D28"/>
                </a:solidFill>
                <a:latin typeface="Roboto"/>
                <a:ea typeface="Roboto"/>
                <a:cs typeface="Roboto"/>
              </a:rPr>
              <a:t>Transport charge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EEBD3D-89C4-EF30-EC6E-E7FA3E406122}"/>
              </a:ext>
            </a:extLst>
          </p:cNvPr>
          <p:cNvSpPr txBox="1"/>
          <p:nvPr/>
        </p:nvSpPr>
        <p:spPr>
          <a:xfrm>
            <a:off x="9183998" y="5240769"/>
            <a:ext cx="2258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34D28"/>
                </a:solidFill>
                <a:latin typeface="Roboto"/>
                <a:ea typeface="Roboto"/>
                <a:cs typeface="Roboto"/>
              </a:rPr>
              <a:t>Final amount</a:t>
            </a:r>
          </a:p>
          <a:p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8028EB-8889-1975-98CB-8EB626B16DDA}"/>
              </a:ext>
            </a:extLst>
          </p:cNvPr>
          <p:cNvSpPr txBox="1"/>
          <p:nvPr/>
        </p:nvSpPr>
        <p:spPr>
          <a:xfrm>
            <a:off x="11457556" y="2672838"/>
            <a:ext cx="189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₹2,300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CDA15E-9A34-96B7-3477-1DBDD71F56CD}"/>
              </a:ext>
            </a:extLst>
          </p:cNvPr>
          <p:cNvSpPr txBox="1"/>
          <p:nvPr/>
        </p:nvSpPr>
        <p:spPr>
          <a:xfrm>
            <a:off x="14868416" y="2672838"/>
            <a:ext cx="189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₹2,250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2D111F-52B4-D1BD-277E-B0234C10579B}"/>
              </a:ext>
            </a:extLst>
          </p:cNvPr>
          <p:cNvSpPr txBox="1"/>
          <p:nvPr/>
        </p:nvSpPr>
        <p:spPr>
          <a:xfrm>
            <a:off x="11457556" y="3282998"/>
            <a:ext cx="1899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100 </a:t>
            </a:r>
            <a:r>
              <a:rPr lang="en-IN" dirty="0" err="1">
                <a:solidFill>
                  <a:srgbClr val="29402D"/>
                </a:solidFill>
                <a:latin typeface="Roboto"/>
                <a:ea typeface="Roboto"/>
                <a:cs typeface="Roboto"/>
              </a:rPr>
              <a:t>qtl</a:t>
            </a:r>
            <a:endParaRPr lang="en-IN" dirty="0">
              <a:solidFill>
                <a:srgbClr val="29402D"/>
              </a:solidFill>
              <a:latin typeface="Roboto"/>
              <a:ea typeface="Roboto"/>
              <a:cs typeface="Roboto"/>
            </a:endParaRPr>
          </a:p>
          <a:p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95286F-4EEE-844E-0268-32195B4AAC20}"/>
              </a:ext>
            </a:extLst>
          </p:cNvPr>
          <p:cNvSpPr txBox="1"/>
          <p:nvPr/>
        </p:nvSpPr>
        <p:spPr>
          <a:xfrm>
            <a:off x="14868416" y="3282998"/>
            <a:ext cx="189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100 </a:t>
            </a:r>
            <a:r>
              <a:rPr lang="en-IN" dirty="0" err="1">
                <a:solidFill>
                  <a:srgbClr val="29402D"/>
                </a:solidFill>
                <a:latin typeface="Roboto"/>
                <a:ea typeface="Roboto"/>
                <a:cs typeface="Roboto"/>
              </a:rPr>
              <a:t>qtl</a:t>
            </a:r>
            <a:endParaRPr lang="en-IN" dirty="0">
              <a:solidFill>
                <a:srgbClr val="29402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8A8CD5-378C-3E25-6A36-9557DD03F7F0}"/>
              </a:ext>
            </a:extLst>
          </p:cNvPr>
          <p:cNvSpPr txBox="1"/>
          <p:nvPr/>
        </p:nvSpPr>
        <p:spPr>
          <a:xfrm>
            <a:off x="11457556" y="4012168"/>
            <a:ext cx="2903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100 × ₹2,300 = ₹2,30,000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ADFB42-0F48-74F8-81AD-6C964E61AFF8}"/>
              </a:ext>
            </a:extLst>
          </p:cNvPr>
          <p:cNvSpPr txBox="1"/>
          <p:nvPr/>
        </p:nvSpPr>
        <p:spPr>
          <a:xfrm>
            <a:off x="14868416" y="4000500"/>
            <a:ext cx="2852656" cy="66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100 × ₹2,250 = ₹2,25,000</a:t>
            </a:r>
          </a:p>
          <a:p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FDBA17-64FA-0E6C-0C78-06AEF5781BF0}"/>
              </a:ext>
            </a:extLst>
          </p:cNvPr>
          <p:cNvSpPr txBox="1"/>
          <p:nvPr/>
        </p:nvSpPr>
        <p:spPr>
          <a:xfrm>
            <a:off x="11457556" y="4640953"/>
            <a:ext cx="189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− ₹12,000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B81FEB-42FF-DF9B-84DC-227D501B6976}"/>
              </a:ext>
            </a:extLst>
          </p:cNvPr>
          <p:cNvSpPr txBox="1"/>
          <p:nvPr/>
        </p:nvSpPr>
        <p:spPr>
          <a:xfrm>
            <a:off x="14868416" y="4640953"/>
            <a:ext cx="189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− ₹3,000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58CE45-7BF3-72B2-E118-5892298F9CE1}"/>
              </a:ext>
            </a:extLst>
          </p:cNvPr>
          <p:cNvSpPr txBox="1"/>
          <p:nvPr/>
        </p:nvSpPr>
        <p:spPr>
          <a:xfrm>
            <a:off x="11457556" y="5249211"/>
            <a:ext cx="2563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₹2,30,000 − ₹12,000</a:t>
            </a:r>
          </a:p>
          <a:p>
            <a:pPr algn="ctr"/>
            <a:r>
              <a:rPr lang="en-IN" b="1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= ₹2,18,000</a:t>
            </a:r>
          </a:p>
          <a:p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B4B933-6794-BFFB-17BC-581ED39C3509}"/>
              </a:ext>
            </a:extLst>
          </p:cNvPr>
          <p:cNvSpPr txBox="1"/>
          <p:nvPr/>
        </p:nvSpPr>
        <p:spPr>
          <a:xfrm>
            <a:off x="14868416" y="5249212"/>
            <a:ext cx="2400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₹2,25,000 − ₹3,000</a:t>
            </a:r>
          </a:p>
          <a:p>
            <a:pPr algn="ctr"/>
            <a:r>
              <a:rPr lang="en-IN" b="1" dirty="0">
                <a:solidFill>
                  <a:srgbClr val="29402D"/>
                </a:solidFill>
                <a:latin typeface="Roboto"/>
                <a:ea typeface="Roboto"/>
                <a:cs typeface="Roboto"/>
              </a:rPr>
              <a:t>= ₹2,22,000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944" y="247492"/>
            <a:ext cx="7077456" cy="107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2"/>
              </a:lnSpc>
            </a:pPr>
            <a:r>
              <a:rPr lang="en-US" sz="6230" b="1">
                <a:solidFill>
                  <a:srgbClr val="1C39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Proposed Solution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4944" y="1449801"/>
            <a:ext cx="8220456" cy="752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dirty="0" err="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KisanBazaar</a:t>
            </a:r>
            <a:r>
              <a:rPr lang="en-US" sz="2299" dirty="0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compares all selling options and</a:t>
            </a:r>
          </a:p>
          <a:p>
            <a:pPr algn="l">
              <a:lnSpc>
                <a:spcPts val="2989"/>
              </a:lnSpc>
            </a:pPr>
            <a:r>
              <a:rPr lang="en-US" sz="2299" dirty="0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which option may give the farmer the best result.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350377"/>
            <a:ext cx="3718852" cy="4941258"/>
          </a:xfrm>
          <a:custGeom>
            <a:avLst/>
            <a:gdLst/>
            <a:ahLst/>
            <a:cxnLst/>
            <a:rect l="l" t="t" r="r" b="b"/>
            <a:pathLst>
              <a:path w="3718852" h="4941258">
                <a:moveTo>
                  <a:pt x="0" y="0"/>
                </a:moveTo>
                <a:lnTo>
                  <a:pt x="3718852" y="0"/>
                </a:lnTo>
                <a:lnTo>
                  <a:pt x="371885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2350377"/>
            <a:ext cx="3718852" cy="874559"/>
          </a:xfrm>
          <a:custGeom>
            <a:avLst/>
            <a:gdLst/>
            <a:ahLst/>
            <a:cxnLst/>
            <a:rect l="l" t="t" r="r" b="b"/>
            <a:pathLst>
              <a:path w="3718852" h="874559">
                <a:moveTo>
                  <a:pt x="0" y="0"/>
                </a:moveTo>
                <a:lnTo>
                  <a:pt x="3718852" y="0"/>
                </a:lnTo>
                <a:lnTo>
                  <a:pt x="371885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25296" y="2565917"/>
            <a:ext cx="2505456" cy="36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3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1. FARMER ENTERS</a:t>
            </a:r>
          </a:p>
        </p:txBody>
      </p:sp>
      <p:sp>
        <p:nvSpPr>
          <p:cNvPr id="8" name="Freeform 8"/>
          <p:cNvSpPr/>
          <p:nvPr/>
        </p:nvSpPr>
        <p:spPr>
          <a:xfrm>
            <a:off x="1739110" y="3214004"/>
            <a:ext cx="1531292" cy="1716322"/>
          </a:xfrm>
          <a:custGeom>
            <a:avLst/>
            <a:gdLst/>
            <a:ahLst/>
            <a:cxnLst/>
            <a:rect l="l" t="t" r="r" b="b"/>
            <a:pathLst>
              <a:path w="1531292" h="1716322">
                <a:moveTo>
                  <a:pt x="0" y="0"/>
                </a:moveTo>
                <a:lnTo>
                  <a:pt x="1531292" y="0"/>
                </a:lnTo>
                <a:lnTo>
                  <a:pt x="153129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15568" y="5034157"/>
            <a:ext cx="1682496" cy="194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7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Crop Quantity District Harvest date Selling deadline Money needed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79818" y="2350377"/>
            <a:ext cx="3937608" cy="4941258"/>
          </a:xfrm>
          <a:custGeom>
            <a:avLst/>
            <a:gdLst/>
            <a:ahLst/>
            <a:cxnLst/>
            <a:rect l="l" t="t" r="r" b="b"/>
            <a:pathLst>
              <a:path w="3937608" h="4941258">
                <a:moveTo>
                  <a:pt x="0" y="0"/>
                </a:moveTo>
                <a:lnTo>
                  <a:pt x="3937608" y="0"/>
                </a:lnTo>
                <a:lnTo>
                  <a:pt x="3937608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79818" y="2350377"/>
            <a:ext cx="3937608" cy="874559"/>
          </a:xfrm>
          <a:custGeom>
            <a:avLst/>
            <a:gdLst/>
            <a:ahLst/>
            <a:cxnLst/>
            <a:rect l="l" t="t" r="r" b="b"/>
            <a:pathLst>
              <a:path w="3937608" h="874559">
                <a:moveTo>
                  <a:pt x="0" y="0"/>
                </a:moveTo>
                <a:lnTo>
                  <a:pt x="3937608" y="0"/>
                </a:lnTo>
                <a:lnTo>
                  <a:pt x="393760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029200" y="2565917"/>
            <a:ext cx="3364992" cy="36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3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2. KISANBAZAAR CHECKS</a:t>
            </a:r>
          </a:p>
        </p:txBody>
      </p:sp>
      <p:sp>
        <p:nvSpPr>
          <p:cNvPr id="13" name="Freeform 13"/>
          <p:cNvSpPr/>
          <p:nvPr/>
        </p:nvSpPr>
        <p:spPr>
          <a:xfrm>
            <a:off x="5873598" y="3214004"/>
            <a:ext cx="1750048" cy="1716322"/>
          </a:xfrm>
          <a:custGeom>
            <a:avLst/>
            <a:gdLst/>
            <a:ahLst/>
            <a:cxnLst/>
            <a:rect l="l" t="t" r="r" b="b"/>
            <a:pathLst>
              <a:path w="1750048" h="1716322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248656" y="5139445"/>
            <a:ext cx="2103120" cy="152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Mandi prices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Buyer offers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Government buying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Transport cost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Warehouse cost</a:t>
            </a:r>
          </a:p>
        </p:txBody>
      </p:sp>
      <p:sp>
        <p:nvSpPr>
          <p:cNvPr id="15" name="Freeform 15"/>
          <p:cNvSpPr/>
          <p:nvPr/>
        </p:nvSpPr>
        <p:spPr>
          <a:xfrm>
            <a:off x="9144000" y="2350377"/>
            <a:ext cx="3707914" cy="4941258"/>
          </a:xfrm>
          <a:custGeom>
            <a:avLst/>
            <a:gdLst/>
            <a:ahLst/>
            <a:cxnLst/>
            <a:rect l="l" t="t" r="r" b="b"/>
            <a:pathLst>
              <a:path w="3707914" h="4941258">
                <a:moveTo>
                  <a:pt x="0" y="0"/>
                </a:moveTo>
                <a:lnTo>
                  <a:pt x="3707914" y="0"/>
                </a:lnTo>
                <a:lnTo>
                  <a:pt x="370791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0" y="2350377"/>
            <a:ext cx="3707914" cy="874559"/>
          </a:xfrm>
          <a:custGeom>
            <a:avLst/>
            <a:gdLst/>
            <a:ahLst/>
            <a:cxnLst/>
            <a:rect l="l" t="t" r="r" b="b"/>
            <a:pathLst>
              <a:path w="3707914" h="874559">
                <a:moveTo>
                  <a:pt x="0" y="0"/>
                </a:moveTo>
                <a:lnTo>
                  <a:pt x="3707914" y="0"/>
                </a:lnTo>
                <a:lnTo>
                  <a:pt x="370791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26880" y="2603347"/>
            <a:ext cx="3310128" cy="30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3. KISANBAZAAR COMPARES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9789330" y="3214004"/>
            <a:ext cx="2187560" cy="1716322"/>
          </a:xfrm>
          <a:custGeom>
            <a:avLst/>
            <a:gdLst/>
            <a:ahLst/>
            <a:cxnLst/>
            <a:rect l="l" t="t" r="r" b="b"/>
            <a:pathLst>
              <a:path w="2187560" h="1716322">
                <a:moveTo>
                  <a:pt x="0" y="0"/>
                </a:moveTo>
                <a:lnTo>
                  <a:pt x="2187560" y="0"/>
                </a:lnTo>
                <a:lnTo>
                  <a:pt x="218756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729216" y="5103068"/>
            <a:ext cx="1627632" cy="1586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Final amount</a:t>
            </a:r>
          </a:p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Payment time</a:t>
            </a:r>
          </a:p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Buyer capacity</a:t>
            </a:r>
          </a:p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Data date</a:t>
            </a:r>
          </a:p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Storage risk</a:t>
            </a:r>
          </a:p>
        </p:txBody>
      </p:sp>
      <p:sp>
        <p:nvSpPr>
          <p:cNvPr id="20" name="Freeform 20"/>
          <p:cNvSpPr/>
          <p:nvPr/>
        </p:nvSpPr>
        <p:spPr>
          <a:xfrm>
            <a:off x="13278488" y="2350377"/>
            <a:ext cx="4145426" cy="4941258"/>
          </a:xfrm>
          <a:custGeom>
            <a:avLst/>
            <a:gdLst/>
            <a:ahLst/>
            <a:cxnLst/>
            <a:rect l="l" t="t" r="r" b="b"/>
            <a:pathLst>
              <a:path w="4145426" h="4941258">
                <a:moveTo>
                  <a:pt x="0" y="0"/>
                </a:moveTo>
                <a:lnTo>
                  <a:pt x="4145426" y="0"/>
                </a:lnTo>
                <a:lnTo>
                  <a:pt x="414542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278488" y="2350377"/>
            <a:ext cx="4145426" cy="874559"/>
          </a:xfrm>
          <a:custGeom>
            <a:avLst/>
            <a:gdLst/>
            <a:ahLst/>
            <a:cxnLst/>
            <a:rect l="l" t="t" r="r" b="b"/>
            <a:pathLst>
              <a:path w="4145426" h="874559">
                <a:moveTo>
                  <a:pt x="0" y="0"/>
                </a:moveTo>
                <a:lnTo>
                  <a:pt x="4145426" y="0"/>
                </a:lnTo>
                <a:lnTo>
                  <a:pt x="414542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301216" y="2565627"/>
            <a:ext cx="2157984" cy="36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107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4. FARMER GETS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361330" y="3214004"/>
            <a:ext cx="1750048" cy="1716322"/>
          </a:xfrm>
          <a:custGeom>
            <a:avLst/>
            <a:gdLst/>
            <a:ahLst/>
            <a:cxnLst/>
            <a:rect l="l" t="t" r="r" b="b"/>
            <a:pathLst>
              <a:path w="1750048" h="1716322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789152" y="5139445"/>
            <a:ext cx="3401568" cy="152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Best option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Full cost calculation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Reason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Warning about old/missing data</a:t>
            </a:r>
          </a:p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Next action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4134488" y="3848060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487732" y="3848060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622220" y="3848060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45330" y="7280704"/>
            <a:ext cx="9592450" cy="2798589"/>
          </a:xfrm>
          <a:custGeom>
            <a:avLst/>
            <a:gdLst/>
            <a:ahLst/>
            <a:cxnLst/>
            <a:rect l="l" t="t" r="r" b="b"/>
            <a:pathLst>
              <a:path w="9592450" h="2798589">
                <a:moveTo>
                  <a:pt x="0" y="0"/>
                </a:moveTo>
                <a:lnTo>
                  <a:pt x="9592450" y="0"/>
                </a:lnTo>
                <a:lnTo>
                  <a:pt x="959245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45330" y="7062064"/>
            <a:ext cx="3500096" cy="874559"/>
          </a:xfrm>
          <a:custGeom>
            <a:avLst/>
            <a:gdLst/>
            <a:ahLst/>
            <a:cxnLst/>
            <a:rect l="l" t="t" r="r" b="b"/>
            <a:pathLst>
              <a:path w="3500096" h="874559">
                <a:moveTo>
                  <a:pt x="0" y="0"/>
                </a:moveTo>
                <a:lnTo>
                  <a:pt x="3500096" y="0"/>
                </a:lnTo>
                <a:lnTo>
                  <a:pt x="350009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15568" y="7318511"/>
            <a:ext cx="2468880" cy="36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3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EXAMPLE RESULT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82842" y="7925691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0226842" y="7280704"/>
            <a:ext cx="7197072" cy="2798589"/>
          </a:xfrm>
          <a:custGeom>
            <a:avLst/>
            <a:gdLst/>
            <a:ahLst/>
            <a:cxnLst/>
            <a:rect l="l" t="t" r="r" b="b"/>
            <a:pathLst>
              <a:path w="7197072" h="2798589">
                <a:moveTo>
                  <a:pt x="0" y="0"/>
                </a:moveTo>
                <a:lnTo>
                  <a:pt x="7197072" y="0"/>
                </a:lnTo>
                <a:lnTo>
                  <a:pt x="7197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664354" y="7499343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1576304" y="7621839"/>
            <a:ext cx="4005072" cy="73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274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farmer checks the details and makes the final decision.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664354" y="8570678"/>
            <a:ext cx="6540804" cy="218640"/>
          </a:xfrm>
          <a:custGeom>
            <a:avLst/>
            <a:gdLst/>
            <a:ahLst/>
            <a:cxnLst/>
            <a:rect l="l" t="t" r="r" b="b"/>
            <a:pathLst>
              <a:path w="6540804" h="218640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1576304" y="8877935"/>
            <a:ext cx="4754880" cy="721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0"/>
              </a:lnSpc>
            </a:pPr>
            <a:r>
              <a:rPr lang="en-US" sz="2223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app gives an estimate.</a:t>
            </a:r>
          </a:p>
          <a:p>
            <a:pPr algn="l">
              <a:lnSpc>
                <a:spcPts val="2890"/>
              </a:lnSpc>
            </a:pPr>
            <a:r>
              <a:rPr lang="en-US" sz="2223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 does not promise a price or profit.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80944" y="7984261"/>
            <a:ext cx="2523744" cy="318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Recommended option: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0944" y="8519697"/>
            <a:ext cx="2651760" cy="31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Estimated final amount: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80944" y="9043822"/>
            <a:ext cx="877824" cy="318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>
                <a:solidFill>
                  <a:srgbClr val="1C39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Reason: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16752" y="7870154"/>
            <a:ext cx="1353312" cy="48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6" b="1">
                <a:solidFill>
                  <a:srgbClr val="3A622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Buyer B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16752" y="8400511"/>
            <a:ext cx="1865376" cy="50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2978" b="1">
                <a:solidFill>
                  <a:srgbClr val="3A622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₹2,22,000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16752" y="9010746"/>
            <a:ext cx="3858768" cy="733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1">
                <a:solidFill>
                  <a:srgbClr val="3A622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 farmer gets ₹4,000 more after transport.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640" y="656736"/>
            <a:ext cx="10119360" cy="798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5904" b="1" dirty="0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Features &amp; Innovation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705390"/>
            <a:ext cx="3718852" cy="4088563"/>
          </a:xfrm>
          <a:custGeom>
            <a:avLst/>
            <a:gdLst/>
            <a:ahLst/>
            <a:cxnLst/>
            <a:rect l="l" t="t" r="r" b="b"/>
            <a:pathLst>
              <a:path w="3718852" h="4088563">
                <a:moveTo>
                  <a:pt x="0" y="0"/>
                </a:moveTo>
                <a:lnTo>
                  <a:pt x="3718852" y="0"/>
                </a:lnTo>
                <a:lnTo>
                  <a:pt x="371885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354" y="1924030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5840" y="3682434"/>
            <a:ext cx="2560320" cy="31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2"/>
              </a:lnSpc>
            </a:pPr>
            <a:r>
              <a:rPr lang="en-US" sz="2115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Market Information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4222458"/>
            <a:ext cx="2889504" cy="126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1808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mandi prices, old records, 7/30/90–day changes, data date/source, MSP where applies</a:t>
            </a:r>
          </a:p>
        </p:txBody>
      </p:sp>
      <p:sp>
        <p:nvSpPr>
          <p:cNvPr id="8" name="Freeform 8"/>
          <p:cNvSpPr/>
          <p:nvPr/>
        </p:nvSpPr>
        <p:spPr>
          <a:xfrm>
            <a:off x="3915732" y="1705390"/>
            <a:ext cx="3926670" cy="4088563"/>
          </a:xfrm>
          <a:custGeom>
            <a:avLst/>
            <a:gdLst/>
            <a:ahLst/>
            <a:cxnLst/>
            <a:rect l="l" t="t" r="r" b="b"/>
            <a:pathLst>
              <a:path w="3926670" h="4088563">
                <a:moveTo>
                  <a:pt x="0" y="0"/>
                </a:moveTo>
                <a:lnTo>
                  <a:pt x="3926670" y="0"/>
                </a:lnTo>
                <a:lnTo>
                  <a:pt x="392667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98574" y="1924030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992624" y="3676712"/>
            <a:ext cx="1828800" cy="33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196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Buyer 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62272" y="4159599"/>
            <a:ext cx="2889504" cy="139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buyers, price, required quantity, distance, payment time, </a:t>
            </a:r>
          </a:p>
          <a:p>
            <a:pPr algn="ctr">
              <a:lnSpc>
                <a:spcPts val="2833"/>
              </a:lnSpc>
            </a:pPr>
            <a:r>
              <a:rPr lang="en-US" sz="2023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offer end date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12708" y="1705390"/>
            <a:ext cx="3718852" cy="4088563"/>
          </a:xfrm>
          <a:custGeom>
            <a:avLst/>
            <a:gdLst/>
            <a:ahLst/>
            <a:cxnLst/>
            <a:rect l="l" t="t" r="r" b="b"/>
            <a:pathLst>
              <a:path w="3718852" h="4088563">
                <a:moveTo>
                  <a:pt x="0" y="0"/>
                </a:moveTo>
                <a:lnTo>
                  <a:pt x="3718852" y="0"/>
                </a:lnTo>
                <a:lnTo>
                  <a:pt x="371885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706488" y="1924030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485632" y="3676626"/>
            <a:ext cx="2048256" cy="33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</a:pPr>
            <a:r>
              <a:rPr lang="en-US" sz="2223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Transport Cost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19872" y="4253301"/>
            <a:ext cx="2779776" cy="121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</a:pPr>
            <a:r>
              <a:rPr lang="en-US" sz="1765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transport/handling costs, vehicle capacity check, final amount after transport</a:t>
            </a:r>
          </a:p>
        </p:txBody>
      </p:sp>
      <p:sp>
        <p:nvSpPr>
          <p:cNvPr id="16" name="Freeform 16"/>
          <p:cNvSpPr/>
          <p:nvPr/>
        </p:nvSpPr>
        <p:spPr>
          <a:xfrm>
            <a:off x="426574" y="5783021"/>
            <a:ext cx="3718852" cy="4077631"/>
          </a:xfrm>
          <a:custGeom>
            <a:avLst/>
            <a:gdLst/>
            <a:ahLst/>
            <a:cxnLst/>
            <a:rect l="l" t="t" r="r" b="b"/>
            <a:pathLst>
              <a:path w="3718852" h="4077631">
                <a:moveTo>
                  <a:pt x="0" y="0"/>
                </a:moveTo>
                <a:lnTo>
                  <a:pt x="3718852" y="0"/>
                </a:lnTo>
                <a:lnTo>
                  <a:pt x="371885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20354" y="5990729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4128" y="7745799"/>
            <a:ext cx="2487168" cy="31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2"/>
              </a:lnSpc>
            </a:pPr>
            <a:r>
              <a:rPr lang="en-US" sz="2115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Warehouse Search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8202390"/>
            <a:ext cx="2670048" cy="139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warehouses, distance, available space, storage cost, price to cover storage</a:t>
            </a:r>
          </a:p>
        </p:txBody>
      </p:sp>
      <p:sp>
        <p:nvSpPr>
          <p:cNvPr id="20" name="Freeform 20"/>
          <p:cNvSpPr/>
          <p:nvPr/>
        </p:nvSpPr>
        <p:spPr>
          <a:xfrm>
            <a:off x="3915732" y="5783021"/>
            <a:ext cx="3926670" cy="4077631"/>
          </a:xfrm>
          <a:custGeom>
            <a:avLst/>
            <a:gdLst/>
            <a:ahLst/>
            <a:cxnLst/>
            <a:rect l="l" t="t" r="r" b="b"/>
            <a:pathLst>
              <a:path w="3926670" h="4077631">
                <a:moveTo>
                  <a:pt x="0" y="0"/>
                </a:moveTo>
                <a:lnTo>
                  <a:pt x="3926670" y="0"/>
                </a:lnTo>
                <a:lnTo>
                  <a:pt x="392667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998574" y="5990729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315968" y="7790334"/>
            <a:ext cx="3182112" cy="2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657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Government Procurement Help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25696" y="8254004"/>
            <a:ext cx="2962656" cy="130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1894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MSP and schemes, who can apply, selling steps, official government </a:t>
            </a:r>
          </a:p>
          <a:p>
            <a:pPr algn="ctr">
              <a:lnSpc>
                <a:spcPts val="2652"/>
              </a:lnSpc>
            </a:pPr>
            <a:r>
              <a:rPr lang="en-US" sz="1894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page link</a:t>
            </a:r>
          </a:p>
        </p:txBody>
      </p:sp>
      <p:sp>
        <p:nvSpPr>
          <p:cNvPr id="24" name="Freeform 24"/>
          <p:cNvSpPr/>
          <p:nvPr/>
        </p:nvSpPr>
        <p:spPr>
          <a:xfrm>
            <a:off x="7612708" y="5783021"/>
            <a:ext cx="3718852" cy="4077631"/>
          </a:xfrm>
          <a:custGeom>
            <a:avLst/>
            <a:gdLst/>
            <a:ahLst/>
            <a:cxnLst/>
            <a:rect l="l" t="t" r="r" b="b"/>
            <a:pathLst>
              <a:path w="3718852" h="4077631">
                <a:moveTo>
                  <a:pt x="0" y="0"/>
                </a:moveTo>
                <a:lnTo>
                  <a:pt x="3718852" y="0"/>
                </a:lnTo>
                <a:lnTo>
                  <a:pt x="371885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706488" y="5990729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503920" y="7745713"/>
            <a:ext cx="2048256" cy="31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sz="2142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 Assistant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83296" y="8202390"/>
            <a:ext cx="2852928" cy="139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023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Hindi &amp; English, simple questions, explains options, supports text, </a:t>
            </a:r>
          </a:p>
          <a:p>
            <a:pPr algn="ctr">
              <a:lnSpc>
                <a:spcPts val="2833"/>
              </a:lnSpc>
            </a:pPr>
            <a:r>
              <a:rPr lang="en-US" sz="2023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touch, speech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528440" y="426348"/>
            <a:ext cx="6551742" cy="4503979"/>
          </a:xfrm>
          <a:custGeom>
            <a:avLst/>
            <a:gdLst/>
            <a:ahLst/>
            <a:cxnLst/>
            <a:rect l="l" t="t" r="r" b="b"/>
            <a:pathLst>
              <a:path w="6551742" h="4503979">
                <a:moveTo>
                  <a:pt x="0" y="0"/>
                </a:moveTo>
                <a:lnTo>
                  <a:pt x="6551742" y="0"/>
                </a:lnTo>
                <a:lnTo>
                  <a:pt x="6551742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161520" y="1032569"/>
            <a:ext cx="5193792" cy="104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sz="3575" b="1">
                <a:solidFill>
                  <a:srgbClr val="E6E6D3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 does more than show crop prices.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34672" y="2369473"/>
            <a:ext cx="5047488" cy="1544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1"/>
              </a:lnSpc>
            </a:pPr>
            <a:r>
              <a:rPr lang="en-US" sz="3549" b="1">
                <a:solidFill>
                  <a:srgbClr val="F4B90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It calculates how much money the farmer may receive after costs.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528440" y="4711687"/>
            <a:ext cx="6551742" cy="5148966"/>
          </a:xfrm>
          <a:custGeom>
            <a:avLst/>
            <a:gdLst/>
            <a:ahLst/>
            <a:cxnLst/>
            <a:rect l="l" t="t" r="r" b="b"/>
            <a:pathLst>
              <a:path w="6551742" h="5148966">
                <a:moveTo>
                  <a:pt x="0" y="0"/>
                </a:moveTo>
                <a:lnTo>
                  <a:pt x="6551742" y="0"/>
                </a:lnTo>
                <a:lnTo>
                  <a:pt x="6551742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1942064" y="5097763"/>
            <a:ext cx="2578608" cy="37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613" b="1">
                <a:solidFill>
                  <a:srgbClr val="20471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Differences</a:t>
            </a:r>
          </a:p>
        </p:txBody>
      </p:sp>
      <p:sp>
        <p:nvSpPr>
          <p:cNvPr id="33" name="Freeform 33"/>
          <p:cNvSpPr/>
          <p:nvPr/>
        </p:nvSpPr>
        <p:spPr>
          <a:xfrm>
            <a:off x="11747196" y="5564382"/>
            <a:ext cx="5895474" cy="229572"/>
          </a:xfrm>
          <a:custGeom>
            <a:avLst/>
            <a:gdLst/>
            <a:ahLst/>
            <a:cxnLst/>
            <a:rect l="l" t="t" r="r" b="b"/>
            <a:pathLst>
              <a:path w="5895474" h="229572">
                <a:moveTo>
                  <a:pt x="0" y="0"/>
                </a:moveTo>
                <a:lnTo>
                  <a:pt x="5895474" y="0"/>
                </a:lnTo>
                <a:lnTo>
                  <a:pt x="5895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1942064" y="5863690"/>
            <a:ext cx="2578608" cy="28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948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Covers all MP districts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747196" y="6209369"/>
            <a:ext cx="5895474" cy="229572"/>
          </a:xfrm>
          <a:custGeom>
            <a:avLst/>
            <a:gdLst/>
            <a:ahLst/>
            <a:cxnLst/>
            <a:rect l="l" t="t" r="r" b="b"/>
            <a:pathLst>
              <a:path w="5895474" h="229572">
                <a:moveTo>
                  <a:pt x="0" y="0"/>
                </a:moveTo>
                <a:lnTo>
                  <a:pt x="5895474" y="0"/>
                </a:lnTo>
                <a:lnTo>
                  <a:pt x="5895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1942064" y="6532345"/>
            <a:ext cx="3364992" cy="28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948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Covers all crops grown in MP</a:t>
            </a:r>
          </a:p>
        </p:txBody>
      </p:sp>
      <p:sp>
        <p:nvSpPr>
          <p:cNvPr id="37" name="Freeform 37"/>
          <p:cNvSpPr/>
          <p:nvPr/>
        </p:nvSpPr>
        <p:spPr>
          <a:xfrm>
            <a:off x="11747196" y="6854356"/>
            <a:ext cx="5895474" cy="218640"/>
          </a:xfrm>
          <a:custGeom>
            <a:avLst/>
            <a:gdLst/>
            <a:ahLst/>
            <a:cxnLst/>
            <a:rect l="l" t="t" r="r" b="b"/>
            <a:pathLst>
              <a:path w="5895474" h="218640">
                <a:moveTo>
                  <a:pt x="0" y="0"/>
                </a:moveTo>
                <a:lnTo>
                  <a:pt x="5895474" y="0"/>
                </a:lnTo>
                <a:lnTo>
                  <a:pt x="5895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1942064" y="7201000"/>
            <a:ext cx="5303520" cy="28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948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Checks price, cost and payment time together</a:t>
            </a:r>
          </a:p>
        </p:txBody>
      </p:sp>
      <p:sp>
        <p:nvSpPr>
          <p:cNvPr id="39" name="Freeform 39"/>
          <p:cNvSpPr/>
          <p:nvPr/>
        </p:nvSpPr>
        <p:spPr>
          <a:xfrm>
            <a:off x="11747196" y="7499343"/>
            <a:ext cx="5895474" cy="218640"/>
          </a:xfrm>
          <a:custGeom>
            <a:avLst/>
            <a:gdLst/>
            <a:ahLst/>
            <a:cxnLst/>
            <a:rect l="l" t="t" r="r" b="b"/>
            <a:pathLst>
              <a:path w="5895474" h="218640">
                <a:moveTo>
                  <a:pt x="0" y="0"/>
                </a:moveTo>
                <a:lnTo>
                  <a:pt x="5895474" y="0"/>
                </a:lnTo>
                <a:lnTo>
                  <a:pt x="5895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1942064" y="7865673"/>
            <a:ext cx="2359152" cy="28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924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Explains every result</a:t>
            </a:r>
          </a:p>
        </p:txBody>
      </p:sp>
      <p:sp>
        <p:nvSpPr>
          <p:cNvPr id="41" name="Freeform 41"/>
          <p:cNvSpPr/>
          <p:nvPr/>
        </p:nvSpPr>
        <p:spPr>
          <a:xfrm>
            <a:off x="11747196" y="8133399"/>
            <a:ext cx="5895474" cy="229572"/>
          </a:xfrm>
          <a:custGeom>
            <a:avLst/>
            <a:gdLst/>
            <a:ahLst/>
            <a:cxnLst/>
            <a:rect l="l" t="t" r="r" b="b"/>
            <a:pathLst>
              <a:path w="5895474" h="229572">
                <a:moveTo>
                  <a:pt x="0" y="0"/>
                </a:moveTo>
                <a:lnTo>
                  <a:pt x="5895474" y="0"/>
                </a:lnTo>
                <a:lnTo>
                  <a:pt x="5895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1747196" y="8778386"/>
            <a:ext cx="5895474" cy="437279"/>
          </a:xfrm>
          <a:custGeom>
            <a:avLst/>
            <a:gdLst/>
            <a:ahLst/>
            <a:cxnLst/>
            <a:rect l="l" t="t" r="r" b="b"/>
            <a:pathLst>
              <a:path w="5895474" h="437279">
                <a:moveTo>
                  <a:pt x="0" y="0"/>
                </a:moveTo>
                <a:lnTo>
                  <a:pt x="5895474" y="0"/>
                </a:lnTo>
                <a:lnTo>
                  <a:pt x="5895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1942064" y="8540025"/>
            <a:ext cx="5522976" cy="27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851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Shows storage risk without promising future price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942064" y="9212585"/>
            <a:ext cx="5303520" cy="27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1900">
                <a:solidFill>
                  <a:srgbClr val="20471E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Separates market prices from real buyer offers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5800" y="723900"/>
            <a:ext cx="10625328" cy="83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7"/>
              </a:lnSpc>
            </a:pPr>
            <a:r>
              <a:rPr lang="en-US" sz="5736" b="1" dirty="0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Technology &amp; Implementation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748699"/>
            <a:ext cx="17175480" cy="423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 b="1" dirty="0" err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</a:t>
            </a:r>
            <a:r>
              <a:rPr lang="en-US" sz="2494" b="1" dirty="0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uses free and open </a:t>
            </a:r>
            <a:r>
              <a:rPr lang="en-US" sz="2494" b="1" dirty="0" err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tools,so</a:t>
            </a:r>
            <a:r>
              <a:rPr lang="en-US" sz="2494" b="1" dirty="0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the project does not need paid software services.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2350377"/>
            <a:ext cx="5676718" cy="655919"/>
          </a:xfrm>
          <a:custGeom>
            <a:avLst/>
            <a:gdLst/>
            <a:ahLst/>
            <a:cxnLst/>
            <a:rect l="l" t="t" r="r" b="b"/>
            <a:pathLst>
              <a:path w="5676718" h="655919">
                <a:moveTo>
                  <a:pt x="0" y="0"/>
                </a:moveTo>
                <a:lnTo>
                  <a:pt x="5676718" y="0"/>
                </a:lnTo>
                <a:lnTo>
                  <a:pt x="5676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03120" y="2607829"/>
            <a:ext cx="2706624" cy="3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9"/>
              </a:lnSpc>
            </a:pPr>
            <a:r>
              <a:rPr lang="en-US" sz="209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System Architecture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2776725"/>
            <a:ext cx="5676718" cy="7083928"/>
          </a:xfrm>
          <a:custGeom>
            <a:avLst/>
            <a:gdLst/>
            <a:ahLst/>
            <a:cxnLst/>
            <a:rect l="l" t="t" r="r" b="b"/>
            <a:pathLst>
              <a:path w="5676718" h="7083928">
                <a:moveTo>
                  <a:pt x="0" y="0"/>
                </a:moveTo>
                <a:lnTo>
                  <a:pt x="5676718" y="0"/>
                </a:lnTo>
                <a:lnTo>
                  <a:pt x="5676718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82842" y="2995365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1598" y="3214004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48256" y="3388946"/>
            <a:ext cx="3328416" cy="402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399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Government and Market Data + Buyer, Warehouse and Transport Data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59464" y="3848060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82842" y="4066699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01598" y="4285339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259464" y="4711687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82842" y="491939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71600" y="5138034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670048" y="5420686"/>
            <a:ext cx="1828800" cy="21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88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Supabase Database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59464" y="578302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82842" y="5990729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01598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542032" y="6369748"/>
            <a:ext cx="1828800" cy="43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5"/>
              </a:lnSpc>
            </a:pPr>
            <a:r>
              <a:rPr lang="en-US" sz="1517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KisanBazaar Calculation System</a:t>
            </a:r>
          </a:p>
        </p:txBody>
      </p:sp>
      <p:sp>
        <p:nvSpPr>
          <p:cNvPr id="26" name="Freeform 26"/>
          <p:cNvSpPr/>
          <p:nvPr/>
        </p:nvSpPr>
        <p:spPr>
          <a:xfrm>
            <a:off x="3259464" y="685435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82842" y="706206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01598" y="728070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259464" y="792569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82842" y="8133399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01598" y="8352038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529866" y="2350377"/>
            <a:ext cx="5884536" cy="655919"/>
          </a:xfrm>
          <a:custGeom>
            <a:avLst/>
            <a:gdLst/>
            <a:ahLst/>
            <a:cxnLst/>
            <a:rect l="l" t="t" r="r" b="b"/>
            <a:pathLst>
              <a:path w="5884536" h="655919">
                <a:moveTo>
                  <a:pt x="0" y="0"/>
                </a:moveTo>
                <a:lnTo>
                  <a:pt x="5884536" y="0"/>
                </a:lnTo>
                <a:lnTo>
                  <a:pt x="5884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174736" y="2602282"/>
            <a:ext cx="2340864" cy="31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8"/>
              </a:lnSpc>
            </a:pPr>
            <a:r>
              <a:rPr lang="en-US" sz="212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Technology Stack</a:t>
            </a:r>
          </a:p>
        </p:txBody>
      </p:sp>
      <p:sp>
        <p:nvSpPr>
          <p:cNvPr id="34" name="Freeform 34"/>
          <p:cNvSpPr/>
          <p:nvPr/>
        </p:nvSpPr>
        <p:spPr>
          <a:xfrm>
            <a:off x="6529866" y="2776725"/>
            <a:ext cx="5884536" cy="7083928"/>
          </a:xfrm>
          <a:custGeom>
            <a:avLst/>
            <a:gdLst/>
            <a:ahLst/>
            <a:cxnLst/>
            <a:rect l="l" t="t" r="r" b="b"/>
            <a:pathLst>
              <a:path w="5884536" h="7083928">
                <a:moveTo>
                  <a:pt x="0" y="0"/>
                </a:moveTo>
                <a:lnTo>
                  <a:pt x="5884536" y="0"/>
                </a:lnTo>
                <a:lnTo>
                  <a:pt x="5884536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6748622" y="3214004"/>
            <a:ext cx="875024" cy="644987"/>
          </a:xfrm>
          <a:custGeom>
            <a:avLst/>
            <a:gdLst/>
            <a:ahLst/>
            <a:cxnLst/>
            <a:rect l="l" t="t" r="r" b="b"/>
            <a:pathLst>
              <a:path w="875024" h="644987">
                <a:moveTo>
                  <a:pt x="0" y="0"/>
                </a:moveTo>
                <a:lnTo>
                  <a:pt x="875024" y="0"/>
                </a:lnTo>
                <a:lnTo>
                  <a:pt x="87502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717536" y="3260300"/>
            <a:ext cx="1426464" cy="536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lang="en-US" sz="1819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React Native and Expo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60736" y="3304128"/>
            <a:ext cx="1133856" cy="43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547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Build the Android app</a:t>
            </a:r>
          </a:p>
        </p:txBody>
      </p:sp>
      <p:sp>
        <p:nvSpPr>
          <p:cNvPr id="38" name="Freeform 38"/>
          <p:cNvSpPr/>
          <p:nvPr/>
        </p:nvSpPr>
        <p:spPr>
          <a:xfrm>
            <a:off x="6748622" y="3848060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7717536" y="4158307"/>
            <a:ext cx="1225296" cy="26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TypeScript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60736" y="4106537"/>
            <a:ext cx="1042416" cy="46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577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Write safer app code</a:t>
            </a:r>
          </a:p>
        </p:txBody>
      </p:sp>
      <p:sp>
        <p:nvSpPr>
          <p:cNvPr id="42" name="Freeform 42"/>
          <p:cNvSpPr/>
          <p:nvPr/>
        </p:nvSpPr>
        <p:spPr>
          <a:xfrm>
            <a:off x="6934200" y="4711687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7769352" y="4921692"/>
            <a:ext cx="1755648" cy="40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5"/>
              </a:lnSpc>
            </a:pPr>
            <a:r>
              <a:rPr lang="en-US" sz="1404" b="1" dirty="0" err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Supabase</a:t>
            </a:r>
            <a:endParaRPr lang="en-US" sz="1404" b="1" dirty="0">
              <a:solidFill>
                <a:srgbClr val="1E421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  <a:p>
            <a:pPr algn="l">
              <a:lnSpc>
                <a:spcPts val="1615"/>
              </a:lnSpc>
            </a:pPr>
            <a:r>
              <a:rPr lang="en-US" sz="1404" b="1" dirty="0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and </a:t>
            </a:r>
            <a:r>
              <a:rPr lang="en-US" sz="1404" b="1" dirty="0" err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PostgreSQLSQL</a:t>
            </a:r>
            <a:endParaRPr lang="en-US" sz="1404" b="1" dirty="0">
              <a:solidFill>
                <a:srgbClr val="1E421B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460736" y="4908900"/>
            <a:ext cx="1207008" cy="43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547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Store and manage data</a:t>
            </a:r>
          </a:p>
        </p:txBody>
      </p:sp>
      <p:sp>
        <p:nvSpPr>
          <p:cNvPr id="45" name="Freeform 45"/>
          <p:cNvSpPr/>
          <p:nvPr/>
        </p:nvSpPr>
        <p:spPr>
          <a:xfrm>
            <a:off x="6748622" y="5564382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2801600" y="3300024"/>
            <a:ext cx="3950208" cy="251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668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Complete MP data available from start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801600" y="3948105"/>
            <a:ext cx="3877056" cy="251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8"/>
              </a:lnSpc>
            </a:pPr>
            <a:r>
              <a:rPr lang="en-US" sz="1668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covers all MP districts and crops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801600" y="4545293"/>
            <a:ext cx="3730752" cy="52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857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 loads only needed data to save storage and mobile data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801600" y="5481410"/>
            <a:ext cx="2871216" cy="52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857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Keeps recent data for weak internet areas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801600" y="6417527"/>
            <a:ext cx="2779776" cy="52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857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Shows source and date for every price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801600" y="7357926"/>
            <a:ext cx="1993392" cy="23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30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User info protected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62656" y="4474282"/>
            <a:ext cx="1042416" cy="21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88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Check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926080" y="7498754"/>
            <a:ext cx="1133856" cy="21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7"/>
              </a:lnSpc>
            </a:pPr>
            <a:r>
              <a:rPr lang="en-US" sz="1458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Android App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176272" y="8547934"/>
            <a:ext cx="2743200" cy="21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88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Selling Options for the Farmer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17536" y="5773366"/>
            <a:ext cx="1682496" cy="26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Supabase Auth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460736" y="5690735"/>
            <a:ext cx="914400" cy="46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577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Manage user login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717536" y="6481015"/>
            <a:ext cx="1481328" cy="51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en-US" sz="1744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Database security rules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460736" y="6503315"/>
            <a:ext cx="841248" cy="469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606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Protect user info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717536" y="7345003"/>
            <a:ext cx="2121408" cy="514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Government and authorized sources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460736" y="7367423"/>
            <a:ext cx="768096" cy="469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606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Provide data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717536" y="8217752"/>
            <a:ext cx="1481328" cy="52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857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Android APK and AAB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460736" y="8262462"/>
            <a:ext cx="1078992" cy="43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547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Test and publish app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717536" y="9147502"/>
            <a:ext cx="1298448" cy="26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781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Google Play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460736" y="9174514"/>
            <a:ext cx="1335024" cy="239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577">
                <a:solidFill>
                  <a:srgbClr val="1E421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Distribute app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277088" y="2607829"/>
            <a:ext cx="3419856" cy="3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9"/>
              </a:lnSpc>
            </a:pPr>
            <a:r>
              <a:rPr lang="en-US" sz="209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Implementation Approach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838176" y="8077212"/>
            <a:ext cx="2871216" cy="27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lang="en-US" sz="1819" b="1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Avoid paid dependencies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929616" y="8793824"/>
            <a:ext cx="3529584" cy="52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5"/>
              </a:lnSpc>
            </a:pPr>
            <a:r>
              <a:rPr lang="en-US" sz="1857" b="1" dirty="0">
                <a:solidFill>
                  <a:srgbClr val="1E421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 paid AI API, SMS OTP, map API, hosting, cloud-build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656" y="406509"/>
            <a:ext cx="13459968" cy="84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326" b="1">
                <a:solidFill>
                  <a:srgbClr val="244D2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Impact, Feasibility &amp; 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1279043"/>
            <a:ext cx="18288000" cy="229572"/>
          </a:xfrm>
          <a:custGeom>
            <a:avLst/>
            <a:gdLst/>
            <a:ahLst/>
            <a:cxnLst/>
            <a:rect l="l" t="t" r="r" b="b"/>
            <a:pathLst>
              <a:path w="18288000" h="229572">
                <a:moveTo>
                  <a:pt x="0" y="0"/>
                </a:moveTo>
                <a:lnTo>
                  <a:pt x="18288000" y="0"/>
                </a:lnTo>
                <a:lnTo>
                  <a:pt x="1828800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1705390"/>
            <a:ext cx="5895474" cy="4514911"/>
          </a:xfrm>
          <a:custGeom>
            <a:avLst/>
            <a:gdLst/>
            <a:ahLst/>
            <a:cxnLst/>
            <a:rect l="l" t="t" r="r" b="b"/>
            <a:pathLst>
              <a:path w="5895474" h="4514911">
                <a:moveTo>
                  <a:pt x="0" y="0"/>
                </a:moveTo>
                <a:lnTo>
                  <a:pt x="5895474" y="0"/>
                </a:lnTo>
                <a:lnTo>
                  <a:pt x="5895474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1705390"/>
            <a:ext cx="5895474" cy="655919"/>
          </a:xfrm>
          <a:custGeom>
            <a:avLst/>
            <a:gdLst/>
            <a:ahLst/>
            <a:cxnLst/>
            <a:rect l="l" t="t" r="r" b="b"/>
            <a:pathLst>
              <a:path w="5895474" h="655919">
                <a:moveTo>
                  <a:pt x="0" y="0"/>
                </a:moveTo>
                <a:lnTo>
                  <a:pt x="5895474" y="0"/>
                </a:lnTo>
                <a:lnTo>
                  <a:pt x="5895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49424" y="1927547"/>
            <a:ext cx="2286000" cy="28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2146" b="1">
                <a:solidFill>
                  <a:srgbClr val="F6F0E9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Expected Impact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6112" y="2726502"/>
            <a:ext cx="4937760" cy="251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Farmers can compare selling options easily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Farmers see important costs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Farmers understand payment time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Farmers understand government selling steps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Farmers make better-informed choices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 supports all MP districts and crops</a:t>
            </a:r>
          </a:p>
        </p:txBody>
      </p:sp>
      <p:sp>
        <p:nvSpPr>
          <p:cNvPr id="9" name="Freeform 9"/>
          <p:cNvSpPr/>
          <p:nvPr/>
        </p:nvSpPr>
        <p:spPr>
          <a:xfrm>
            <a:off x="6311110" y="1705390"/>
            <a:ext cx="5665780" cy="4514911"/>
          </a:xfrm>
          <a:custGeom>
            <a:avLst/>
            <a:gdLst/>
            <a:ahLst/>
            <a:cxnLst/>
            <a:rect l="l" t="t" r="r" b="b"/>
            <a:pathLst>
              <a:path w="5665780" h="4514911">
                <a:moveTo>
                  <a:pt x="0" y="0"/>
                </a:moveTo>
                <a:lnTo>
                  <a:pt x="5665780" y="0"/>
                </a:lnTo>
                <a:lnTo>
                  <a:pt x="5665780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11110" y="1705390"/>
            <a:ext cx="5665780" cy="655919"/>
          </a:xfrm>
          <a:custGeom>
            <a:avLst/>
            <a:gdLst/>
            <a:ahLst/>
            <a:cxnLst/>
            <a:rect l="l" t="t" r="r" b="b"/>
            <a:pathLst>
              <a:path w="5665780" h="655919">
                <a:moveTo>
                  <a:pt x="0" y="0"/>
                </a:moveTo>
                <a:lnTo>
                  <a:pt x="5665780" y="0"/>
                </a:lnTo>
                <a:lnTo>
                  <a:pt x="5665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56832" y="2500751"/>
            <a:ext cx="4608576" cy="337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Uses free and open-source tools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Uses existing Android phones and computers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Uses complete authorized data from start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Works with weak internet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 paid AI services needed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Can use existing Google Play developer account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965952" y="1705390"/>
            <a:ext cx="5676718" cy="4514911"/>
          </a:xfrm>
          <a:custGeom>
            <a:avLst/>
            <a:gdLst/>
            <a:ahLst/>
            <a:cxnLst/>
            <a:rect l="l" t="t" r="r" b="b"/>
            <a:pathLst>
              <a:path w="5676718" h="4514911">
                <a:moveTo>
                  <a:pt x="0" y="0"/>
                </a:moveTo>
                <a:lnTo>
                  <a:pt x="5676718" y="0"/>
                </a:lnTo>
                <a:lnTo>
                  <a:pt x="5676718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965952" y="1705390"/>
            <a:ext cx="5676718" cy="655919"/>
          </a:xfrm>
          <a:custGeom>
            <a:avLst/>
            <a:gdLst/>
            <a:ahLst/>
            <a:cxnLst/>
            <a:rect l="l" t="t" r="r" b="b"/>
            <a:pathLst>
              <a:path w="5676718" h="655919">
                <a:moveTo>
                  <a:pt x="0" y="0"/>
                </a:moveTo>
                <a:lnTo>
                  <a:pt x="5676718" y="0"/>
                </a:lnTo>
                <a:lnTo>
                  <a:pt x="5676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326112" y="2500751"/>
            <a:ext cx="4407408" cy="337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Support Farmer Producer Organizations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Improve road and transport cost estimates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Add farmer-approved price alerts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Add more regional languages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Add verified buying and delivery steps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Expand to other Indian states</a:t>
            </a:r>
          </a:p>
          <a:p>
            <a:pPr algn="l">
              <a:lnSpc>
                <a:spcPts val="3380"/>
              </a:lnSpc>
            </a:pPr>
            <a:r>
              <a:rPr lang="en-US" sz="1690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Study future price trends after testing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426574" y="6209369"/>
            <a:ext cx="17216096" cy="1934962"/>
          </a:xfrm>
          <a:custGeom>
            <a:avLst/>
            <a:gdLst/>
            <a:ahLst/>
            <a:cxnLst/>
            <a:rect l="l" t="t" r="r" b="b"/>
            <a:pathLst>
              <a:path w="17216096" h="1934962">
                <a:moveTo>
                  <a:pt x="0" y="0"/>
                </a:moveTo>
                <a:lnTo>
                  <a:pt x="17216096" y="0"/>
                </a:lnTo>
                <a:lnTo>
                  <a:pt x="1721609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98448" y="6522772"/>
            <a:ext cx="15691104" cy="1509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2"/>
              </a:lnSpc>
            </a:pPr>
            <a:r>
              <a:rPr lang="en-US" sz="5132" b="1">
                <a:solidFill>
                  <a:srgbClr val="244D2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“</a:t>
            </a:r>
            <a:r>
              <a:rPr lang="en-US" sz="5132" b="1">
                <a:solidFill>
                  <a:srgbClr val="4B8F41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KisanBazaar</a:t>
            </a:r>
            <a:r>
              <a:rPr lang="en-US" sz="5132" b="1">
                <a:solidFill>
                  <a:srgbClr val="244D2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 helps farmers compare prices, costs and payment time before they sell.”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93008" y="8398348"/>
            <a:ext cx="11301984" cy="48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8"/>
              </a:lnSpc>
            </a:pPr>
            <a:r>
              <a:rPr lang="en-US" sz="3538" b="1">
                <a:solidFill>
                  <a:srgbClr val="244D2F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Right crop. Right market. Better-informed decision.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8997026"/>
            <a:ext cx="18288000" cy="1289974"/>
          </a:xfrm>
          <a:custGeom>
            <a:avLst/>
            <a:gdLst/>
            <a:ahLst/>
            <a:cxnLst/>
            <a:rect l="l" t="t" r="r" b="b"/>
            <a:pathLst>
              <a:path w="18288000" h="1289974">
                <a:moveTo>
                  <a:pt x="0" y="0"/>
                </a:moveTo>
                <a:lnTo>
                  <a:pt x="18288000" y="0"/>
                </a:lnTo>
                <a:lnTo>
                  <a:pt x="18288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59536" y="9177541"/>
            <a:ext cx="16239744" cy="986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023" b="1">
                <a:solidFill>
                  <a:srgbClr val="244D2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External tools and data references include Android, React Native, Expo, Supabase, PostgreSQL, data.gov.in/AGMARKNET, e-NAM, official government procurement sources, Material Symbols or Font Awesome, and Google Play. Logos belong to their respective owners. These references do not mean official endorsement.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2480" y="1930957"/>
            <a:ext cx="1426464" cy="29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"/>
              </a:lnSpc>
            </a:pPr>
            <a:r>
              <a:rPr lang="en-US" sz="2197" b="1">
                <a:solidFill>
                  <a:srgbClr val="F6F0E9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Feasibility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53744" y="1930957"/>
            <a:ext cx="1828800" cy="290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7"/>
              </a:lnSpc>
            </a:pPr>
            <a:r>
              <a:rPr lang="en-US" sz="2197" b="1">
                <a:solidFill>
                  <a:srgbClr val="F6F0E9"/>
                </a:solidFill>
                <a:latin typeface="Bricolage Grotesque Ultra-Bold"/>
                <a:ea typeface="Bricolage Grotesque Ultra-Bold"/>
                <a:cs typeface="Bricolage Grotesque Ultra-Bold"/>
                <a:sym typeface="Bricolage Grotesque Ultra-Bold"/>
              </a:rPr>
              <a:t>Future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913</Words>
  <Application>Microsoft Office PowerPoint</Application>
  <PresentationFormat>Custom</PresentationFormat>
  <Paragraphs>185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Roboto</vt:lpstr>
      <vt:lpstr>Bricolage Grotesque</vt:lpstr>
      <vt:lpstr>Bricolage Grotesque Ultra-Bold</vt:lpstr>
      <vt:lpstr>Bricolage Grotesque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paid software cost</dc:title>
  <cp:lastModifiedBy>Adnan Khan</cp:lastModifiedBy>
  <cp:revision>5</cp:revision>
  <dcterms:created xsi:type="dcterms:W3CDTF">2006-08-16T00:00:00Z</dcterms:created>
  <dcterms:modified xsi:type="dcterms:W3CDTF">2026-09-27T05:44:06Z</dcterms:modified>
  <dc:identifier>DAHVVk4Yj5c</dc:identifier>
</cp:coreProperties>
</file>