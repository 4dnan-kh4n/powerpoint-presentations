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8" r:id="rId1"/>
  </p:sldMasterIdLst>
  <p:notesMasterIdLst>
    <p:notesMasterId r:id="rId15"/>
  </p:notesMasterIdLst>
  <p:sldIdLst>
    <p:sldId id="256" r:id="rId2"/>
    <p:sldId id="272" r:id="rId3"/>
    <p:sldId id="271" r:id="rId4"/>
    <p:sldId id="266" r:id="rId5"/>
    <p:sldId id="268" r:id="rId6"/>
    <p:sldId id="270" r:id="rId7"/>
    <p:sldId id="260" r:id="rId8"/>
    <p:sldId id="261" r:id="rId9"/>
    <p:sldId id="262" r:id="rId10"/>
    <p:sldId id="263" r:id="rId11"/>
    <p:sldId id="264" r:id="rId12"/>
    <p:sldId id="265" r:id="rId13"/>
    <p:sldId id="273" r:id="rId14"/>
  </p:sldIdLst>
  <p:sldSz cx="14630400" cy="8229600"/>
  <p:notesSz cx="8229600" cy="14630400"/>
  <p:embeddedFontLst>
    <p:embeddedFont>
      <p:font typeface="Barlow" panose="00000500000000000000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30" d="100"/>
          <a:sy n="30" d="100"/>
        </p:scale>
        <p:origin x="1804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6161F9-CB9B-41AA-9734-421C60E69669}" type="doc">
      <dgm:prSet loTypeId="urn:microsoft.com/office/officeart/2005/8/layout/vList3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D96CA570-FB22-433F-B5AC-D4C42FA46F93}">
      <dgm:prSet/>
      <dgm:spPr/>
      <dgm:t>
        <a:bodyPr/>
        <a:lstStyle/>
        <a:p>
          <a:r>
            <a:rPr lang="en-US" b="1" dirty="0"/>
            <a:t>Why Cybersecurity Matters More Than Ever</a:t>
          </a:r>
          <a:endParaRPr lang="en-IN" dirty="0"/>
        </a:p>
      </dgm:t>
    </dgm:pt>
    <dgm:pt modelId="{76448BF9-10E8-46A3-8722-0167D080FAD6}" type="parTrans" cxnId="{2FFA34DE-C143-4001-95BE-C76242D39CF7}">
      <dgm:prSet/>
      <dgm:spPr/>
      <dgm:t>
        <a:bodyPr/>
        <a:lstStyle/>
        <a:p>
          <a:endParaRPr lang="en-IN"/>
        </a:p>
      </dgm:t>
    </dgm:pt>
    <dgm:pt modelId="{14C6646F-747E-4879-AC18-4BB1AA21D197}" type="sibTrans" cxnId="{2FFA34DE-C143-4001-95BE-C76242D39CF7}">
      <dgm:prSet/>
      <dgm:spPr/>
      <dgm:t>
        <a:bodyPr/>
        <a:lstStyle/>
        <a:p>
          <a:endParaRPr lang="en-IN"/>
        </a:p>
      </dgm:t>
    </dgm:pt>
    <dgm:pt modelId="{4ECFA177-C422-4CC5-8CAC-658753920D13}" type="pres">
      <dgm:prSet presAssocID="{EA6161F9-CB9B-41AA-9734-421C60E69669}" presName="linearFlow" presStyleCnt="0">
        <dgm:presLayoutVars>
          <dgm:dir/>
          <dgm:resizeHandles val="exact"/>
        </dgm:presLayoutVars>
      </dgm:prSet>
      <dgm:spPr/>
    </dgm:pt>
    <dgm:pt modelId="{30921437-84C3-4EF9-9A04-A0D53E7631F2}" type="pres">
      <dgm:prSet presAssocID="{D96CA570-FB22-433F-B5AC-D4C42FA46F93}" presName="composite" presStyleCnt="0"/>
      <dgm:spPr/>
    </dgm:pt>
    <dgm:pt modelId="{19AD195B-B3DC-4D70-AABB-259F496E8CBE}" type="pres">
      <dgm:prSet presAssocID="{D96CA570-FB22-433F-B5AC-D4C42FA46F93}" presName="imgShp" presStyleLbl="fgImgPlace1" presStyleIdx="0" presStyleCnt="1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7863728F-80B2-44C2-BD87-1C3D3C00DEDF}" type="pres">
      <dgm:prSet presAssocID="{D96CA570-FB22-433F-B5AC-D4C42FA46F93}" presName="txShp" presStyleLbl="node1" presStyleIdx="0" presStyleCnt="1">
        <dgm:presLayoutVars>
          <dgm:bulletEnabled val="1"/>
        </dgm:presLayoutVars>
      </dgm:prSet>
      <dgm:spPr/>
    </dgm:pt>
  </dgm:ptLst>
  <dgm:cxnLst>
    <dgm:cxn modelId="{FA4E5AC4-AD30-4798-986B-B5DC02D4174B}" type="presOf" srcId="{EA6161F9-CB9B-41AA-9734-421C60E69669}" destId="{4ECFA177-C422-4CC5-8CAC-658753920D13}" srcOrd="0" destOrd="0" presId="urn:microsoft.com/office/officeart/2005/8/layout/vList3"/>
    <dgm:cxn modelId="{2FFA34DE-C143-4001-95BE-C76242D39CF7}" srcId="{EA6161F9-CB9B-41AA-9734-421C60E69669}" destId="{D96CA570-FB22-433F-B5AC-D4C42FA46F93}" srcOrd="0" destOrd="0" parTransId="{76448BF9-10E8-46A3-8722-0167D080FAD6}" sibTransId="{14C6646F-747E-4879-AC18-4BB1AA21D197}"/>
    <dgm:cxn modelId="{B64F06F5-F2E6-42C4-A99E-01BF88ACF014}" type="presOf" srcId="{D96CA570-FB22-433F-B5AC-D4C42FA46F93}" destId="{7863728F-80B2-44C2-BD87-1C3D3C00DEDF}" srcOrd="0" destOrd="0" presId="urn:microsoft.com/office/officeart/2005/8/layout/vList3"/>
    <dgm:cxn modelId="{7540C34C-60C2-48BB-81EA-721F18E837CD}" type="presParOf" srcId="{4ECFA177-C422-4CC5-8CAC-658753920D13}" destId="{30921437-84C3-4EF9-9A04-A0D53E7631F2}" srcOrd="0" destOrd="0" presId="urn:microsoft.com/office/officeart/2005/8/layout/vList3"/>
    <dgm:cxn modelId="{3D02B205-2645-4C59-9F25-DB6248941420}" type="presParOf" srcId="{30921437-84C3-4EF9-9A04-A0D53E7631F2}" destId="{19AD195B-B3DC-4D70-AABB-259F496E8CBE}" srcOrd="0" destOrd="0" presId="urn:microsoft.com/office/officeart/2005/8/layout/vList3"/>
    <dgm:cxn modelId="{27B010A5-496E-42CB-AE79-8C7076808510}" type="presParOf" srcId="{30921437-84C3-4EF9-9A04-A0D53E7631F2}" destId="{7863728F-80B2-44C2-BD87-1C3D3C00DED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6161F9-CB9B-41AA-9734-421C60E69669}" type="doc">
      <dgm:prSet loTypeId="urn:microsoft.com/office/officeart/2005/8/layout/vList3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D96CA570-FB22-433F-B5AC-D4C42FA46F93}">
      <dgm:prSet/>
      <dgm:spPr/>
      <dgm:t>
        <a:bodyPr/>
        <a:lstStyle/>
        <a:p>
          <a:r>
            <a:rPr lang="en-US" b="1" dirty="0"/>
            <a:t>Why Cybersecurity Matters More </a:t>
          </a:r>
          <a:r>
            <a:rPr lang="en-US" b="1"/>
            <a:t>Than Ever in 6G</a:t>
          </a:r>
          <a:endParaRPr lang="en-IN" dirty="0"/>
        </a:p>
      </dgm:t>
    </dgm:pt>
    <dgm:pt modelId="{76448BF9-10E8-46A3-8722-0167D080FAD6}" type="parTrans" cxnId="{2FFA34DE-C143-4001-95BE-C76242D39CF7}">
      <dgm:prSet/>
      <dgm:spPr/>
      <dgm:t>
        <a:bodyPr/>
        <a:lstStyle/>
        <a:p>
          <a:endParaRPr lang="en-IN"/>
        </a:p>
      </dgm:t>
    </dgm:pt>
    <dgm:pt modelId="{14C6646F-747E-4879-AC18-4BB1AA21D197}" type="sibTrans" cxnId="{2FFA34DE-C143-4001-95BE-C76242D39CF7}">
      <dgm:prSet/>
      <dgm:spPr/>
      <dgm:t>
        <a:bodyPr/>
        <a:lstStyle/>
        <a:p>
          <a:endParaRPr lang="en-IN"/>
        </a:p>
      </dgm:t>
    </dgm:pt>
    <dgm:pt modelId="{4ECFA177-C422-4CC5-8CAC-658753920D13}" type="pres">
      <dgm:prSet presAssocID="{EA6161F9-CB9B-41AA-9734-421C60E69669}" presName="linearFlow" presStyleCnt="0">
        <dgm:presLayoutVars>
          <dgm:dir/>
          <dgm:resizeHandles val="exact"/>
        </dgm:presLayoutVars>
      </dgm:prSet>
      <dgm:spPr/>
    </dgm:pt>
    <dgm:pt modelId="{30921437-84C3-4EF9-9A04-A0D53E7631F2}" type="pres">
      <dgm:prSet presAssocID="{D96CA570-FB22-433F-B5AC-D4C42FA46F93}" presName="composite" presStyleCnt="0"/>
      <dgm:spPr/>
    </dgm:pt>
    <dgm:pt modelId="{19AD195B-B3DC-4D70-AABB-259F496E8CBE}" type="pres">
      <dgm:prSet presAssocID="{D96CA570-FB22-433F-B5AC-D4C42FA46F93}" presName="imgShp" presStyleLbl="fgImgPlace1" presStyleIdx="0" presStyleCnt="1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7863728F-80B2-44C2-BD87-1C3D3C00DEDF}" type="pres">
      <dgm:prSet presAssocID="{D96CA570-FB22-433F-B5AC-D4C42FA46F93}" presName="txShp" presStyleLbl="node1" presStyleIdx="0" presStyleCnt="1">
        <dgm:presLayoutVars>
          <dgm:bulletEnabled val="1"/>
        </dgm:presLayoutVars>
      </dgm:prSet>
      <dgm:spPr/>
    </dgm:pt>
  </dgm:ptLst>
  <dgm:cxnLst>
    <dgm:cxn modelId="{FA4E5AC4-AD30-4798-986B-B5DC02D4174B}" type="presOf" srcId="{EA6161F9-CB9B-41AA-9734-421C60E69669}" destId="{4ECFA177-C422-4CC5-8CAC-658753920D13}" srcOrd="0" destOrd="0" presId="urn:microsoft.com/office/officeart/2005/8/layout/vList3"/>
    <dgm:cxn modelId="{2FFA34DE-C143-4001-95BE-C76242D39CF7}" srcId="{EA6161F9-CB9B-41AA-9734-421C60E69669}" destId="{D96CA570-FB22-433F-B5AC-D4C42FA46F93}" srcOrd="0" destOrd="0" parTransId="{76448BF9-10E8-46A3-8722-0167D080FAD6}" sibTransId="{14C6646F-747E-4879-AC18-4BB1AA21D197}"/>
    <dgm:cxn modelId="{B64F06F5-F2E6-42C4-A99E-01BF88ACF014}" type="presOf" srcId="{D96CA570-FB22-433F-B5AC-D4C42FA46F93}" destId="{7863728F-80B2-44C2-BD87-1C3D3C00DEDF}" srcOrd="0" destOrd="0" presId="urn:microsoft.com/office/officeart/2005/8/layout/vList3"/>
    <dgm:cxn modelId="{7540C34C-60C2-48BB-81EA-721F18E837CD}" type="presParOf" srcId="{4ECFA177-C422-4CC5-8CAC-658753920D13}" destId="{30921437-84C3-4EF9-9A04-A0D53E7631F2}" srcOrd="0" destOrd="0" presId="urn:microsoft.com/office/officeart/2005/8/layout/vList3"/>
    <dgm:cxn modelId="{3D02B205-2645-4C59-9F25-DB6248941420}" type="presParOf" srcId="{30921437-84C3-4EF9-9A04-A0D53E7631F2}" destId="{19AD195B-B3DC-4D70-AABB-259F496E8CBE}" srcOrd="0" destOrd="0" presId="urn:microsoft.com/office/officeart/2005/8/layout/vList3"/>
    <dgm:cxn modelId="{27B010A5-496E-42CB-AE79-8C7076808510}" type="presParOf" srcId="{30921437-84C3-4EF9-9A04-A0D53E7631F2}" destId="{7863728F-80B2-44C2-BD87-1C3D3C00DED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6161F9-CB9B-41AA-9734-421C60E69669}" type="doc">
      <dgm:prSet loTypeId="urn:microsoft.com/office/officeart/2005/8/layout/vList3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D96CA570-FB22-433F-B5AC-D4C42FA46F93}">
      <dgm:prSet/>
      <dgm:spPr/>
      <dgm:t>
        <a:bodyPr/>
        <a:lstStyle/>
        <a:p>
          <a:r>
            <a:rPr lang="en-US" b="1" dirty="0"/>
            <a:t>Why Cybersecurity Matters More Than Ever</a:t>
          </a:r>
          <a:endParaRPr lang="en-IN" dirty="0"/>
        </a:p>
      </dgm:t>
    </dgm:pt>
    <dgm:pt modelId="{76448BF9-10E8-46A3-8722-0167D080FAD6}" type="parTrans" cxnId="{2FFA34DE-C143-4001-95BE-C76242D39CF7}">
      <dgm:prSet/>
      <dgm:spPr/>
      <dgm:t>
        <a:bodyPr/>
        <a:lstStyle/>
        <a:p>
          <a:endParaRPr lang="en-IN"/>
        </a:p>
      </dgm:t>
    </dgm:pt>
    <dgm:pt modelId="{14C6646F-747E-4879-AC18-4BB1AA21D197}" type="sibTrans" cxnId="{2FFA34DE-C143-4001-95BE-C76242D39CF7}">
      <dgm:prSet/>
      <dgm:spPr/>
      <dgm:t>
        <a:bodyPr/>
        <a:lstStyle/>
        <a:p>
          <a:endParaRPr lang="en-IN"/>
        </a:p>
      </dgm:t>
    </dgm:pt>
    <dgm:pt modelId="{4ECFA177-C422-4CC5-8CAC-658753920D13}" type="pres">
      <dgm:prSet presAssocID="{EA6161F9-CB9B-41AA-9734-421C60E69669}" presName="linearFlow" presStyleCnt="0">
        <dgm:presLayoutVars>
          <dgm:dir/>
          <dgm:resizeHandles val="exact"/>
        </dgm:presLayoutVars>
      </dgm:prSet>
      <dgm:spPr/>
    </dgm:pt>
    <dgm:pt modelId="{30921437-84C3-4EF9-9A04-A0D53E7631F2}" type="pres">
      <dgm:prSet presAssocID="{D96CA570-FB22-433F-B5AC-D4C42FA46F93}" presName="composite" presStyleCnt="0"/>
      <dgm:spPr/>
    </dgm:pt>
    <dgm:pt modelId="{19AD195B-B3DC-4D70-AABB-259F496E8CBE}" type="pres">
      <dgm:prSet presAssocID="{D96CA570-FB22-433F-B5AC-D4C42FA46F93}" presName="imgShp" presStyleLbl="fgImgPlace1" presStyleIdx="0" presStyleCnt="1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7863728F-80B2-44C2-BD87-1C3D3C00DEDF}" type="pres">
      <dgm:prSet presAssocID="{D96CA570-FB22-433F-B5AC-D4C42FA46F93}" presName="txShp" presStyleLbl="node1" presStyleIdx="0" presStyleCnt="1">
        <dgm:presLayoutVars>
          <dgm:bulletEnabled val="1"/>
        </dgm:presLayoutVars>
      </dgm:prSet>
      <dgm:spPr/>
    </dgm:pt>
  </dgm:ptLst>
  <dgm:cxnLst>
    <dgm:cxn modelId="{FA4E5AC4-AD30-4798-986B-B5DC02D4174B}" type="presOf" srcId="{EA6161F9-CB9B-41AA-9734-421C60E69669}" destId="{4ECFA177-C422-4CC5-8CAC-658753920D13}" srcOrd="0" destOrd="0" presId="urn:microsoft.com/office/officeart/2005/8/layout/vList3"/>
    <dgm:cxn modelId="{2FFA34DE-C143-4001-95BE-C76242D39CF7}" srcId="{EA6161F9-CB9B-41AA-9734-421C60E69669}" destId="{D96CA570-FB22-433F-B5AC-D4C42FA46F93}" srcOrd="0" destOrd="0" parTransId="{76448BF9-10E8-46A3-8722-0167D080FAD6}" sibTransId="{14C6646F-747E-4879-AC18-4BB1AA21D197}"/>
    <dgm:cxn modelId="{B64F06F5-F2E6-42C4-A99E-01BF88ACF014}" type="presOf" srcId="{D96CA570-FB22-433F-B5AC-D4C42FA46F93}" destId="{7863728F-80B2-44C2-BD87-1C3D3C00DEDF}" srcOrd="0" destOrd="0" presId="urn:microsoft.com/office/officeart/2005/8/layout/vList3"/>
    <dgm:cxn modelId="{7540C34C-60C2-48BB-81EA-721F18E837CD}" type="presParOf" srcId="{4ECFA177-C422-4CC5-8CAC-658753920D13}" destId="{30921437-84C3-4EF9-9A04-A0D53E7631F2}" srcOrd="0" destOrd="0" presId="urn:microsoft.com/office/officeart/2005/8/layout/vList3"/>
    <dgm:cxn modelId="{3D02B205-2645-4C59-9F25-DB6248941420}" type="presParOf" srcId="{30921437-84C3-4EF9-9A04-A0D53E7631F2}" destId="{19AD195B-B3DC-4D70-AABB-259F496E8CBE}" srcOrd="0" destOrd="0" presId="urn:microsoft.com/office/officeart/2005/8/layout/vList3"/>
    <dgm:cxn modelId="{27B010A5-496E-42CB-AE79-8C7076808510}" type="presParOf" srcId="{30921437-84C3-4EF9-9A04-A0D53E7631F2}" destId="{7863728F-80B2-44C2-BD87-1C3D3C00DED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6161F9-CB9B-41AA-9734-421C60E69669}" type="doc">
      <dgm:prSet loTypeId="urn:microsoft.com/office/officeart/2005/8/layout/vList3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D96CA570-FB22-433F-B5AC-D4C42FA46F93}">
      <dgm:prSet/>
      <dgm:spPr/>
      <dgm:t>
        <a:bodyPr/>
        <a:lstStyle/>
        <a:p>
          <a:r>
            <a:rPr lang="en-US" b="1" dirty="0"/>
            <a:t>Why Cybersecurity Matters More Than Ever</a:t>
          </a:r>
          <a:endParaRPr lang="en-IN" dirty="0"/>
        </a:p>
      </dgm:t>
    </dgm:pt>
    <dgm:pt modelId="{76448BF9-10E8-46A3-8722-0167D080FAD6}" type="parTrans" cxnId="{2FFA34DE-C143-4001-95BE-C76242D39CF7}">
      <dgm:prSet/>
      <dgm:spPr/>
      <dgm:t>
        <a:bodyPr/>
        <a:lstStyle/>
        <a:p>
          <a:endParaRPr lang="en-IN"/>
        </a:p>
      </dgm:t>
    </dgm:pt>
    <dgm:pt modelId="{14C6646F-747E-4879-AC18-4BB1AA21D197}" type="sibTrans" cxnId="{2FFA34DE-C143-4001-95BE-C76242D39CF7}">
      <dgm:prSet/>
      <dgm:spPr/>
      <dgm:t>
        <a:bodyPr/>
        <a:lstStyle/>
        <a:p>
          <a:endParaRPr lang="en-IN"/>
        </a:p>
      </dgm:t>
    </dgm:pt>
    <dgm:pt modelId="{4ECFA177-C422-4CC5-8CAC-658753920D13}" type="pres">
      <dgm:prSet presAssocID="{EA6161F9-CB9B-41AA-9734-421C60E69669}" presName="linearFlow" presStyleCnt="0">
        <dgm:presLayoutVars>
          <dgm:dir/>
          <dgm:resizeHandles val="exact"/>
        </dgm:presLayoutVars>
      </dgm:prSet>
      <dgm:spPr/>
    </dgm:pt>
    <dgm:pt modelId="{30921437-84C3-4EF9-9A04-A0D53E7631F2}" type="pres">
      <dgm:prSet presAssocID="{D96CA570-FB22-433F-B5AC-D4C42FA46F93}" presName="composite" presStyleCnt="0"/>
      <dgm:spPr/>
    </dgm:pt>
    <dgm:pt modelId="{19AD195B-B3DC-4D70-AABB-259F496E8CBE}" type="pres">
      <dgm:prSet presAssocID="{D96CA570-FB22-433F-B5AC-D4C42FA46F93}" presName="imgShp" presStyleLbl="fgImgPlace1" presStyleIdx="0" presStyleCnt="1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7863728F-80B2-44C2-BD87-1C3D3C00DEDF}" type="pres">
      <dgm:prSet presAssocID="{D96CA570-FB22-433F-B5AC-D4C42FA46F93}" presName="txShp" presStyleLbl="node1" presStyleIdx="0" presStyleCnt="1">
        <dgm:presLayoutVars>
          <dgm:bulletEnabled val="1"/>
        </dgm:presLayoutVars>
      </dgm:prSet>
      <dgm:spPr/>
    </dgm:pt>
  </dgm:ptLst>
  <dgm:cxnLst>
    <dgm:cxn modelId="{FA4E5AC4-AD30-4798-986B-B5DC02D4174B}" type="presOf" srcId="{EA6161F9-CB9B-41AA-9734-421C60E69669}" destId="{4ECFA177-C422-4CC5-8CAC-658753920D13}" srcOrd="0" destOrd="0" presId="urn:microsoft.com/office/officeart/2005/8/layout/vList3"/>
    <dgm:cxn modelId="{2FFA34DE-C143-4001-95BE-C76242D39CF7}" srcId="{EA6161F9-CB9B-41AA-9734-421C60E69669}" destId="{D96CA570-FB22-433F-B5AC-D4C42FA46F93}" srcOrd="0" destOrd="0" parTransId="{76448BF9-10E8-46A3-8722-0167D080FAD6}" sibTransId="{14C6646F-747E-4879-AC18-4BB1AA21D197}"/>
    <dgm:cxn modelId="{B64F06F5-F2E6-42C4-A99E-01BF88ACF014}" type="presOf" srcId="{D96CA570-FB22-433F-B5AC-D4C42FA46F93}" destId="{7863728F-80B2-44C2-BD87-1C3D3C00DEDF}" srcOrd="0" destOrd="0" presId="urn:microsoft.com/office/officeart/2005/8/layout/vList3"/>
    <dgm:cxn modelId="{7540C34C-60C2-48BB-81EA-721F18E837CD}" type="presParOf" srcId="{4ECFA177-C422-4CC5-8CAC-658753920D13}" destId="{30921437-84C3-4EF9-9A04-A0D53E7631F2}" srcOrd="0" destOrd="0" presId="urn:microsoft.com/office/officeart/2005/8/layout/vList3"/>
    <dgm:cxn modelId="{3D02B205-2645-4C59-9F25-DB6248941420}" type="presParOf" srcId="{30921437-84C3-4EF9-9A04-A0D53E7631F2}" destId="{19AD195B-B3DC-4D70-AABB-259F496E8CBE}" srcOrd="0" destOrd="0" presId="urn:microsoft.com/office/officeart/2005/8/layout/vList3"/>
    <dgm:cxn modelId="{27B010A5-496E-42CB-AE79-8C7076808510}" type="presParOf" srcId="{30921437-84C3-4EF9-9A04-A0D53E7631F2}" destId="{7863728F-80B2-44C2-BD87-1C3D3C00DED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63728F-80B2-44C2-BD87-1C3D3C00DEDF}">
      <dsp:nvSpPr>
        <dsp:cNvPr id="0" name=""/>
        <dsp:cNvSpPr/>
      </dsp:nvSpPr>
      <dsp:spPr>
        <a:xfrm rot="10800000">
          <a:off x="3267346" y="1360267"/>
          <a:ext cx="8647901" cy="4356461"/>
        </a:xfrm>
        <a:prstGeom prst="homePlat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1079" tIns="247650" rIns="46228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kern="1200" dirty="0"/>
            <a:t>Why Cybersecurity Matters More Than Ever</a:t>
          </a:r>
          <a:endParaRPr lang="en-IN" sz="6500" kern="1200" dirty="0"/>
        </a:p>
      </dsp:txBody>
      <dsp:txXfrm rot="10800000">
        <a:off x="4356461" y="1360267"/>
        <a:ext cx="7558786" cy="4356461"/>
      </dsp:txXfrm>
    </dsp:sp>
    <dsp:sp modelId="{19AD195B-B3DC-4D70-AABB-259F496E8CBE}">
      <dsp:nvSpPr>
        <dsp:cNvPr id="0" name=""/>
        <dsp:cNvSpPr/>
      </dsp:nvSpPr>
      <dsp:spPr>
        <a:xfrm>
          <a:off x="1089115" y="1360267"/>
          <a:ext cx="4356461" cy="435646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63728F-80B2-44C2-BD87-1C3D3C00DEDF}">
      <dsp:nvSpPr>
        <dsp:cNvPr id="0" name=""/>
        <dsp:cNvSpPr/>
      </dsp:nvSpPr>
      <dsp:spPr>
        <a:xfrm rot="10800000">
          <a:off x="3267346" y="1360267"/>
          <a:ext cx="8647901" cy="4356461"/>
        </a:xfrm>
        <a:prstGeom prst="homePlat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1079" tIns="240030" rIns="448056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b="1" kern="1200" dirty="0"/>
            <a:t>Why Cybersecurity Matters More </a:t>
          </a:r>
          <a:r>
            <a:rPr lang="en-US" sz="6300" b="1" kern="1200"/>
            <a:t>Than Ever in 6G</a:t>
          </a:r>
          <a:endParaRPr lang="en-IN" sz="6300" kern="1200" dirty="0"/>
        </a:p>
      </dsp:txBody>
      <dsp:txXfrm rot="10800000">
        <a:off x="4356461" y="1360267"/>
        <a:ext cx="7558786" cy="4356461"/>
      </dsp:txXfrm>
    </dsp:sp>
    <dsp:sp modelId="{19AD195B-B3DC-4D70-AABB-259F496E8CBE}">
      <dsp:nvSpPr>
        <dsp:cNvPr id="0" name=""/>
        <dsp:cNvSpPr/>
      </dsp:nvSpPr>
      <dsp:spPr>
        <a:xfrm>
          <a:off x="1089115" y="1360267"/>
          <a:ext cx="4356461" cy="435646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63728F-80B2-44C2-BD87-1C3D3C00DEDF}">
      <dsp:nvSpPr>
        <dsp:cNvPr id="0" name=""/>
        <dsp:cNvSpPr/>
      </dsp:nvSpPr>
      <dsp:spPr>
        <a:xfrm rot="10800000">
          <a:off x="3267346" y="1360267"/>
          <a:ext cx="8647901" cy="4356461"/>
        </a:xfrm>
        <a:prstGeom prst="homePlat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1079" tIns="247650" rIns="46228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kern="1200" dirty="0"/>
            <a:t>Why Cybersecurity Matters More Than Ever</a:t>
          </a:r>
          <a:endParaRPr lang="en-IN" sz="6500" kern="1200" dirty="0"/>
        </a:p>
      </dsp:txBody>
      <dsp:txXfrm rot="10800000">
        <a:off x="4356461" y="1360267"/>
        <a:ext cx="7558786" cy="4356461"/>
      </dsp:txXfrm>
    </dsp:sp>
    <dsp:sp modelId="{19AD195B-B3DC-4D70-AABB-259F496E8CBE}">
      <dsp:nvSpPr>
        <dsp:cNvPr id="0" name=""/>
        <dsp:cNvSpPr/>
      </dsp:nvSpPr>
      <dsp:spPr>
        <a:xfrm>
          <a:off x="1089115" y="1360267"/>
          <a:ext cx="4356461" cy="435646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63728F-80B2-44C2-BD87-1C3D3C00DEDF}">
      <dsp:nvSpPr>
        <dsp:cNvPr id="0" name=""/>
        <dsp:cNvSpPr/>
      </dsp:nvSpPr>
      <dsp:spPr>
        <a:xfrm rot="10800000">
          <a:off x="3267346" y="1360267"/>
          <a:ext cx="8647901" cy="4356461"/>
        </a:xfrm>
        <a:prstGeom prst="homePlat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1079" tIns="247650" rIns="46228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kern="1200" dirty="0"/>
            <a:t>Why Cybersecurity Matters More Than Ever</a:t>
          </a:r>
          <a:endParaRPr lang="en-IN" sz="6500" kern="1200" dirty="0"/>
        </a:p>
      </dsp:txBody>
      <dsp:txXfrm rot="10800000">
        <a:off x="4356461" y="1360267"/>
        <a:ext cx="7558786" cy="4356461"/>
      </dsp:txXfrm>
    </dsp:sp>
    <dsp:sp modelId="{19AD195B-B3DC-4D70-AABB-259F496E8CBE}">
      <dsp:nvSpPr>
        <dsp:cNvPr id="0" name=""/>
        <dsp:cNvSpPr/>
      </dsp:nvSpPr>
      <dsp:spPr>
        <a:xfrm>
          <a:off x="1089115" y="1360267"/>
          <a:ext cx="4356461" cy="435646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440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CD65-D90C-C692-6033-B42F8826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C197A8-A6E4-7C2C-3BC4-ADFA3BAFF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B1F0F-F1B8-AB50-11B8-DD1F836AF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8227A-06AF-B266-0723-258730F3C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10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F1F2-B5D1-DA6F-48BC-14A446DEB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B6514-AF68-3691-F37E-6F0049202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29501-A72E-47AC-8800-F8C9C35E2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D3644-AEEE-836F-F810-5918240146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10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ED7CE-CD46-5732-97B8-3939794D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ACD9A8-0382-201E-9AC2-61ECA3469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A4E6B-B423-EFFC-145D-7907E7ACB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72FA4-38AD-0C89-F1F4-08AFEE9BB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1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3BA55-C5B2-B77D-B5FC-60AC9303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ABFF4-D4F3-A4CB-18C1-C1497AFDE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D40AF-680B-71A1-1171-414C7696E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C2026-B7D7-EC77-27BD-C72FA5233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05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4840-161E-893C-5947-6CB38E21B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84D047-09BE-6C3D-4D0E-338DE789E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661CD-9553-24AB-E4E0-5F0ED3C2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ABE8-21DA-4783-8EDB-0840F750B9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D438E-BBBB-135E-9F10-0456596E6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59867-2920-D0C9-930A-7AB30F6A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84B7-73A1-42E5-8EAE-A4F1E79DB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544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F563-6EBA-C94C-E73F-CD9FC7CB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A2E93-B027-5E11-34E1-82B7CD527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3C213-DBDD-22BB-ACA2-ECCBAAD97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ABE8-21DA-4783-8EDB-0840F750B9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18676-D479-3CF7-9A76-B881B4957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37ADD-BBF9-EC93-F010-1D87320A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84B7-73A1-42E5-8EAE-A4F1E79DB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223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4F2E-78D5-54A9-6A25-00BF5F05D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4594D-C7FE-3215-7D56-771B66C8A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531ED-BE7E-7183-5E9B-015DBAE00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ABE8-21DA-4783-8EDB-0840F750B9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D326B-0CA6-3794-6035-5141FF38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E8175-D028-FD78-1508-DC0EC807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84B7-73A1-42E5-8EAE-A4F1E79DB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762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C3EA-2E5E-BE1F-D4F6-BE94FDF51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ADDB4-1CBC-EC48-239A-D8EAA8B76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E84B2-0D14-292D-F5FF-70271407E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6D835-7FF8-1980-4FE5-BB59888F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ABE8-21DA-4783-8EDB-0840F750B9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8E369-2BCA-B4C9-5790-F1AE16D5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00546-3F31-E10D-4385-C541E383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84B7-73A1-42E5-8EAE-A4F1E79DB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50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80C64-126A-7DDA-B8B0-E77A4B17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3591C-D058-52F5-F995-044C7B206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0623C-FE37-38B4-2B50-7876AD8D0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135AD3-FBC7-4E74-AD56-40A7A35D35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F6FE26-0725-712E-F0DB-31DBC12555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C9917A-04E4-E5C6-58C0-88691585B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ABE8-21DA-4783-8EDB-0840F750B9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B375EC-E008-BD82-7942-E312A76A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DE76A2-B94C-890C-D34E-91EB6D03F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84B7-73A1-42E5-8EAE-A4F1E79DB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858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CC0D9-E518-A2B5-93AA-1B0B857D4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DC94E-2099-5104-E074-563B336C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ABE8-21DA-4783-8EDB-0840F750B9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97366-5D0F-79F7-1A27-F0ACCD856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E44DD-0231-50CC-4D61-32211EF43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84B7-73A1-42E5-8EAE-A4F1E79DB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716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FA21B-F8E7-F26F-DEDF-D554B7BCD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ABE8-21DA-4783-8EDB-0840F750B9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151BA-D0A1-9BBE-FF36-1B42C1B9C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0E0FC-B957-5686-A5F2-AF5EB2F6C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84B7-73A1-42E5-8EAE-A4F1E79DB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705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4113D-3589-5FEC-F665-50398C09E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1DABB-CED3-4F2E-189C-41C764979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8C073-C133-6C3D-4CCE-DAA8CF4CF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C6C62-56EB-1B7F-7821-02270CF2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ABE8-21DA-4783-8EDB-0840F750B9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7AF65-6CC7-2A2A-CEAA-7E83F9D7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198AD-ACC7-1DDA-BA48-B2AE075BC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84B7-73A1-42E5-8EAE-A4F1E79DB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067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2077-6516-617C-F354-9EC844E50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6B4EC2-3D9D-6DAC-C983-EDDBF06B0D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AC76F-801F-C86B-43EB-0F2440AFF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2853B-A4DC-6A08-87C1-31BC3ED2B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ABE8-21DA-4783-8EDB-0840F750B9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59A89-69F6-8A17-2F8B-DFA955496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AB3AC-E5D7-2037-E9DF-E65849D4F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84B7-73A1-42E5-8EAE-A4F1E79DB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535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0EE62-8679-F7C8-F0DD-929A039E5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5048D-5EF5-6912-74C5-CD46E510A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BAD6-7193-03AA-EFE1-A09A90856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ABE8-21DA-4783-8EDB-0840F750B9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14262-1314-0DFF-A786-EA6ABF531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42E30-26C8-DAD9-1A49-84BE67646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84B7-73A1-42E5-8EAE-A4F1E79DB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639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96A1C6-0D42-E2D9-0E5E-9E181EEAB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7C680-8FDC-B1FA-9F78-B5350BA4B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79855-D8A0-3F5C-26DB-6F7CC4756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ABE8-21DA-4783-8EDB-0840F750B9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A716F-00A5-405A-114E-FE3E35F7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D1F43-5C0E-682D-5E24-1258B6772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84B7-73A1-42E5-8EAE-A4F1E79DB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340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8791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878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7780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310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1071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802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662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628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235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F8C2FA-A25B-B973-1CC1-73D303E46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4BB2A-68A7-EC6E-099C-03B91D8D6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D3FE3-4F05-704C-E4B7-810402A01D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BABE8-21DA-4783-8EDB-0840F750B9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13893-EFCB-1733-3C48-2877D50E2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C92C4-D882-59BE-3059-C428CFB65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D84B7-73A1-42E5-8EAE-A4F1E79DB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651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.jp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image" Target="../media/image5.png"/><Relationship Id="rId7" Type="http://schemas.openxmlformats.org/officeDocument/2006/relationships/diagramLayout" Target="../diagrams/layou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Data" Target="../diagrams/data3.xml"/><Relationship Id="rId5" Type="http://schemas.openxmlformats.org/officeDocument/2006/relationships/image" Target="../media/image1.jpg"/><Relationship Id="rId10" Type="http://schemas.microsoft.com/office/2007/relationships/diagramDrawing" Target="../diagrams/drawing3.xml"/><Relationship Id="rId4" Type="http://schemas.openxmlformats.org/officeDocument/2006/relationships/image" Target="../media/image6.svg"/><Relationship Id="rId9" Type="http://schemas.openxmlformats.org/officeDocument/2006/relationships/diagramColors" Target="../diagrams/colors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image" Target="../media/image5.png"/><Relationship Id="rId7" Type="http://schemas.openxmlformats.org/officeDocument/2006/relationships/image" Target="../media/image1.jpg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11" Type="http://schemas.openxmlformats.org/officeDocument/2006/relationships/diagramColors" Target="../diagrams/colors4.xml"/><Relationship Id="rId5" Type="http://schemas.openxmlformats.org/officeDocument/2006/relationships/image" Target="../media/image7.png"/><Relationship Id="rId10" Type="http://schemas.openxmlformats.org/officeDocument/2006/relationships/diagramQuickStyle" Target="../diagrams/quickStyle4.xml"/><Relationship Id="rId4" Type="http://schemas.openxmlformats.org/officeDocument/2006/relationships/image" Target="../media/image6.svg"/><Relationship Id="rId9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65380" y="3710955"/>
            <a:ext cx="8381563" cy="1419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GD Seminar Presentation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Topic: Cybersecurity in 6G Networks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ABB8C9-90AE-A2DC-FC52-2DF42FDFA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190" y="1780228"/>
            <a:ext cx="1681947" cy="1795112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52652" y="-7617023"/>
            <a:ext cx="6991350" cy="618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0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Understanding 6G Technology</a:t>
            </a:r>
            <a:endParaRPr lang="en-US" sz="4000" dirty="0"/>
          </a:p>
        </p:txBody>
      </p:sp>
      <p:sp>
        <p:nvSpPr>
          <p:cNvPr id="13" name="Text 1"/>
          <p:cNvSpPr/>
          <p:nvPr/>
        </p:nvSpPr>
        <p:spPr>
          <a:xfrm>
            <a:off x="252652" y="-6851154"/>
            <a:ext cx="7386398" cy="2158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dirty="0">
                <a:solidFill>
                  <a:schemeClr val="bg1"/>
                </a:solidFill>
              </a:rPr>
              <a:t>6G promises speeds 100x faster than 5G, delivering terabit-per-second data rates with ultra-low latency under 1 millisecond. This transformative leap will power AI-native networks that fundamentally reshape how we connect.</a:t>
            </a:r>
          </a:p>
        </p:txBody>
      </p:sp>
      <p:sp>
        <p:nvSpPr>
          <p:cNvPr id="14" name="Text 2"/>
          <p:cNvSpPr/>
          <p:nvPr/>
        </p:nvSpPr>
        <p:spPr>
          <a:xfrm>
            <a:off x="252652" y="-3608784"/>
            <a:ext cx="7334250" cy="3988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Game-Changing Applications</a:t>
            </a:r>
          </a:p>
          <a:p>
            <a:r>
              <a:rPr lang="en-US" sz="3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Fully autonomous vehicles with instant response</a:t>
            </a:r>
            <a:endParaRPr lang="en-US" sz="3200" dirty="0"/>
          </a:p>
          <a:p>
            <a:r>
              <a:rPr lang="en-US" sz="3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Immersive holographic communications</a:t>
            </a:r>
            <a:endParaRPr lang="en-US" sz="3200" dirty="0"/>
          </a:p>
          <a:p>
            <a:r>
              <a:rPr lang="en-US" sz="3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Smart cities with real-time intelligence</a:t>
            </a:r>
            <a:endParaRPr lang="en-US" sz="3200" dirty="0"/>
          </a:p>
          <a:p>
            <a:r>
              <a:rPr lang="en-US" sz="3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Massive IoT ecosystems connecting trillions of devices</a:t>
            </a:r>
            <a:endParaRPr lang="en-US" sz="3200" dirty="0"/>
          </a:p>
          <a:p>
            <a:endParaRPr lang="en-US" sz="3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300" y="-8229600"/>
            <a:ext cx="6896100" cy="82296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B7974357-6F92-4531-3D68-A0CC11281529}"/>
              </a:ext>
            </a:extLst>
          </p:cNvPr>
          <p:cNvSpPr/>
          <p:nvPr/>
        </p:nvSpPr>
        <p:spPr>
          <a:xfrm>
            <a:off x="310445" y="5453855"/>
            <a:ext cx="5404555" cy="264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F0FCFF"/>
                </a:solidFill>
                <a:ea typeface="Spline Sans Bold" pitchFamily="34" charset="-122"/>
              </a:rPr>
              <a:t>Submitted By: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0FCFF"/>
                </a:solidFill>
                <a:ea typeface="Spline Sans Bold" pitchFamily="34" charset="-122"/>
              </a:rPr>
              <a:t>Yogiraj Patidar (0101IT231080)</a:t>
            </a:r>
          </a:p>
          <a:p>
            <a:r>
              <a:rPr lang="en-US" sz="3200" dirty="0">
                <a:solidFill>
                  <a:srgbClr val="F0FCFF"/>
                </a:solidFill>
                <a:ea typeface="Spline Sans Bold" pitchFamily="34" charset="-122"/>
              </a:rPr>
              <a:t>Deepak Sahu (0101IT231081)</a:t>
            </a:r>
          </a:p>
          <a:p>
            <a:r>
              <a:rPr lang="en-US" sz="3200" dirty="0">
                <a:solidFill>
                  <a:srgbClr val="F0FCFF"/>
                </a:solidFill>
                <a:ea typeface="Spline Sans Bold" pitchFamily="34" charset="-122"/>
              </a:rPr>
              <a:t>Adnan Khan (0101IT243D01)</a:t>
            </a:r>
          </a:p>
          <a:p>
            <a:r>
              <a:rPr lang="en-US" sz="3200" dirty="0">
                <a:solidFill>
                  <a:srgbClr val="F0FCFF"/>
                </a:solidFill>
                <a:ea typeface="Spline Sans Bold" pitchFamily="34" charset="-122"/>
              </a:rPr>
              <a:t>Bhavna (0101IT243D03)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53721-A010-CA96-AA94-AD83A1F3D567}"/>
              </a:ext>
            </a:extLst>
          </p:cNvPr>
          <p:cNvSpPr txBox="1"/>
          <p:nvPr/>
        </p:nvSpPr>
        <p:spPr>
          <a:xfrm>
            <a:off x="8782755" y="6342595"/>
            <a:ext cx="553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F0FCFF"/>
                </a:solidFill>
                <a:ea typeface="Spline Sans Bold" pitchFamily="34" charset="-122"/>
              </a:rPr>
              <a:t>Submitted to: </a:t>
            </a:r>
          </a:p>
          <a:p>
            <a:pPr algn="r"/>
            <a:r>
              <a:rPr lang="en-US" sz="3200" dirty="0">
                <a:solidFill>
                  <a:srgbClr val="F0FCFF"/>
                </a:solidFill>
                <a:ea typeface="Spline Sans Bold" pitchFamily="34" charset="-122"/>
              </a:rPr>
              <a:t>Prof. Shifa </a:t>
            </a:r>
            <a:r>
              <a:rPr lang="en-US" sz="3200" dirty="0" err="1">
                <a:solidFill>
                  <a:srgbClr val="F0FCFF"/>
                </a:solidFill>
                <a:ea typeface="Spline Sans Bold" pitchFamily="34" charset="-122"/>
              </a:rPr>
              <a:t>Manihar</a:t>
            </a:r>
            <a:endParaRPr lang="en-US" sz="3200" dirty="0">
              <a:solidFill>
                <a:srgbClr val="F0FCFF"/>
              </a:solidFill>
              <a:ea typeface="Spline Sans Bold" pitchFamily="34" charset="-122"/>
            </a:endParaRPr>
          </a:p>
          <a:p>
            <a:pPr algn="r"/>
            <a:r>
              <a:rPr lang="en-US" sz="3200" dirty="0">
                <a:solidFill>
                  <a:srgbClr val="F0FCFF"/>
                </a:solidFill>
                <a:ea typeface="Spline Sans Bold" pitchFamily="34" charset="-122"/>
              </a:rPr>
              <a:t>Dept. of Information Technology</a:t>
            </a:r>
            <a:endParaRPr lang="en-IN" sz="3200" dirty="0">
              <a:solidFill>
                <a:srgbClr val="F0FCFF"/>
              </a:solidFill>
              <a:ea typeface="Spline Sans Bold" pitchFamily="34" charset="-122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CC9476EE-8A4E-3015-1A18-F36AC83F8C12}"/>
              </a:ext>
            </a:extLst>
          </p:cNvPr>
          <p:cNvSpPr/>
          <p:nvPr/>
        </p:nvSpPr>
        <p:spPr>
          <a:xfrm>
            <a:off x="1392361" y="437379"/>
            <a:ext cx="11527603" cy="804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University Institute of Technology - RGPV, Bhopal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FEDBD670-AD74-74E6-6D76-1B5B54B46958}"/>
              </a:ext>
            </a:extLst>
          </p:cNvPr>
          <p:cNvSpPr/>
          <p:nvPr/>
        </p:nvSpPr>
        <p:spPr>
          <a:xfrm>
            <a:off x="1392361" y="1056266"/>
            <a:ext cx="11527603" cy="804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0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Department of Information Technology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B4690-F3F9-5FAF-3845-184F7EE91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9A7940E-9319-F4D2-520C-62893A2E0EEE}"/>
              </a:ext>
            </a:extLst>
          </p:cNvPr>
          <p:cNvSpPr/>
          <p:nvPr/>
        </p:nvSpPr>
        <p:spPr>
          <a:xfrm>
            <a:off x="252652" y="612577"/>
            <a:ext cx="6991350" cy="618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0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Understanding 6G Technology</a:t>
            </a:r>
            <a:endParaRPr lang="en-US"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81D5CD-E05B-4D88-74F9-62A576638CC3}"/>
              </a:ext>
            </a:extLst>
          </p:cNvPr>
          <p:cNvSpPr/>
          <p:nvPr/>
        </p:nvSpPr>
        <p:spPr>
          <a:xfrm>
            <a:off x="252652" y="1378446"/>
            <a:ext cx="7386398" cy="2158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dirty="0">
                <a:solidFill>
                  <a:schemeClr val="bg1"/>
                </a:solidFill>
              </a:rPr>
              <a:t>6G promises speeds 100x faster than 5G, delivering terabit-per-second data rates with ultra-low latency under 1 millisecond. This transformative leap will power AI-native networks that fundamentally reshape how we connect.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6951DA-7428-8942-21FA-8B9952073632}"/>
              </a:ext>
            </a:extLst>
          </p:cNvPr>
          <p:cNvSpPr/>
          <p:nvPr/>
        </p:nvSpPr>
        <p:spPr>
          <a:xfrm>
            <a:off x="252652" y="4620816"/>
            <a:ext cx="7334250" cy="3988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Game-Changing Applications</a:t>
            </a:r>
          </a:p>
          <a:p>
            <a:r>
              <a:rPr lang="en-US" sz="3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Fully autonomous vehicles with instant response</a:t>
            </a:r>
            <a:endParaRPr lang="en-US" sz="3200" dirty="0"/>
          </a:p>
          <a:p>
            <a:r>
              <a:rPr lang="en-US" sz="3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Immersive holographic communications</a:t>
            </a:r>
            <a:endParaRPr lang="en-US" sz="3200" dirty="0"/>
          </a:p>
          <a:p>
            <a:r>
              <a:rPr lang="en-US" sz="3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Smart cities with real-time intelligence</a:t>
            </a:r>
            <a:endParaRPr lang="en-US" sz="3200" dirty="0"/>
          </a:p>
          <a:p>
            <a:r>
              <a:rPr lang="en-US" sz="3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Massive IoT ecosystems connecting trillions of devices</a:t>
            </a:r>
            <a:endParaRPr lang="en-US" sz="3200" dirty="0"/>
          </a:p>
          <a:p>
            <a:endParaRPr lang="en-US" sz="32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324FBD4-77EF-59A3-1FAA-6D01D128F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0"/>
            <a:ext cx="6896100" cy="82296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0F7FC1D-F1CA-F2A2-7A81-784F33B8BE63}"/>
              </a:ext>
            </a:extLst>
          </p:cNvPr>
          <p:cNvGrpSpPr/>
          <p:nvPr/>
        </p:nvGrpSpPr>
        <p:grpSpPr>
          <a:xfrm>
            <a:off x="14630400" y="-35927"/>
            <a:ext cx="14630400" cy="8229600"/>
            <a:chOff x="0" y="0"/>
            <a:chExt cx="14630400" cy="82296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ECBCECE-8FC0-483D-C222-9149FDCD6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4630400" cy="8229600"/>
            </a:xfrm>
            <a:prstGeom prst="rect">
              <a:avLst/>
            </a:prstGeom>
          </p:spPr>
        </p:pic>
        <p:graphicFrame>
          <p:nvGraphicFramePr>
            <p:cNvPr id="10" name="Diagram 9">
              <a:extLst>
                <a:ext uri="{FF2B5EF4-FFF2-40B4-BE49-F238E27FC236}">
                  <a16:creationId xmlns:a16="http://schemas.microsoft.com/office/drawing/2014/main" id="{15433BB2-817B-322B-6DC7-702C47DEEBE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82427050"/>
                </p:ext>
              </p:extLst>
            </p:nvPr>
          </p:nvGraphicFramePr>
          <p:xfrm>
            <a:off x="1003737" y="454104"/>
            <a:ext cx="13004363" cy="707699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6997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06E8F93-54A9-506E-2C59-A46E41DE7E5C}"/>
              </a:ext>
            </a:extLst>
          </p:cNvPr>
          <p:cNvGrpSpPr/>
          <p:nvPr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1AD38E-43F3-E018-C94D-8378FA601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4630400" cy="8229600"/>
            </a:xfrm>
            <a:prstGeom prst="rect">
              <a:avLst/>
            </a:prstGeom>
          </p:spPr>
        </p:pic>
        <p:graphicFrame>
          <p:nvGraphicFramePr>
            <p:cNvPr id="6" name="Diagram 5">
              <a:extLst>
                <a:ext uri="{FF2B5EF4-FFF2-40B4-BE49-F238E27FC236}">
                  <a16:creationId xmlns:a16="http://schemas.microsoft.com/office/drawing/2014/main" id="{0B11AD59-13FC-914A-F458-BA992C54555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12899223"/>
                </p:ext>
              </p:extLst>
            </p:nvPr>
          </p:nvGraphicFramePr>
          <p:xfrm>
            <a:off x="1003737" y="454104"/>
            <a:ext cx="13004363" cy="707699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90708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623FA-C738-28CE-894E-BEDFE69A4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88A0BD04-FACA-45D7-A19C-23A24F86B73B}"/>
              </a:ext>
            </a:extLst>
          </p:cNvPr>
          <p:cNvSpPr/>
          <p:nvPr/>
        </p:nvSpPr>
        <p:spPr>
          <a:xfrm>
            <a:off x="864037" y="1016000"/>
            <a:ext cx="4136231" cy="6400799"/>
          </a:xfrm>
          <a:prstGeom prst="roundRect">
            <a:avLst>
              <a:gd name="adj" fmla="val 9239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953C9E8-C67A-5975-6001-DE3EC2184ECC}"/>
              </a:ext>
            </a:extLst>
          </p:cNvPr>
          <p:cNvSpPr/>
          <p:nvPr/>
        </p:nvSpPr>
        <p:spPr>
          <a:xfrm>
            <a:off x="1141333" y="1352153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16FFBB"/>
          </a:solidFill>
          <a:ln/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CA55939-CE06-5547-8E4B-878B3E363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4930" y="1555750"/>
            <a:ext cx="333256" cy="33325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A16B1495-6F53-4AAD-6AA6-FEB7757FDF6D}"/>
              </a:ext>
            </a:extLst>
          </p:cNvPr>
          <p:cNvSpPr/>
          <p:nvPr/>
        </p:nvSpPr>
        <p:spPr>
          <a:xfrm>
            <a:off x="1141333" y="245383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6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Massive Scale</a:t>
            </a:r>
            <a:endParaRPr lang="en-US" sz="3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F8EC4D9-330B-1034-12A2-E81036D19683}"/>
              </a:ext>
            </a:extLst>
          </p:cNvPr>
          <p:cNvSpPr/>
          <p:nvPr/>
        </p:nvSpPr>
        <p:spPr>
          <a:xfrm>
            <a:off x="1141332" y="3109952"/>
            <a:ext cx="3828455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6G will connect billions more devices than ever before, creating an exponentially larger attack surface for potential threats.</a:t>
            </a:r>
            <a:endParaRPr lang="en-US" sz="32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5A3F908-DCC7-6B84-1055-8AA706A133B7}"/>
              </a:ext>
            </a:extLst>
          </p:cNvPr>
          <p:cNvGrpSpPr/>
          <p:nvPr/>
        </p:nvGrpSpPr>
        <p:grpSpPr>
          <a:xfrm>
            <a:off x="5173384" y="0"/>
            <a:ext cx="14630400" cy="8229600"/>
            <a:chOff x="0" y="0"/>
            <a:chExt cx="14630400" cy="822960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78E936D-49C5-80C6-F447-1E8952A5E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14630400" cy="8229600"/>
            </a:xfrm>
            <a:prstGeom prst="rect">
              <a:avLst/>
            </a:prstGeom>
          </p:spPr>
        </p:pic>
        <p:graphicFrame>
          <p:nvGraphicFramePr>
            <p:cNvPr id="35" name="Diagram 34">
              <a:extLst>
                <a:ext uri="{FF2B5EF4-FFF2-40B4-BE49-F238E27FC236}">
                  <a16:creationId xmlns:a16="http://schemas.microsoft.com/office/drawing/2014/main" id="{D9CBDA76-AF61-7999-9280-11ECE6862AE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82427050"/>
                </p:ext>
              </p:extLst>
            </p:nvPr>
          </p:nvGraphicFramePr>
          <p:xfrm>
            <a:off x="1003737" y="454104"/>
            <a:ext cx="13004363" cy="707699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6" r:lo="rId7" r:qs="rId8" r:cs="rId9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26790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2AF32-C2D3-CA87-EDD6-0A5EE0CE8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2DD4994-1163-01A2-100C-4A4DEA5A7E3B}"/>
              </a:ext>
            </a:extLst>
          </p:cNvPr>
          <p:cNvSpPr/>
          <p:nvPr/>
        </p:nvSpPr>
        <p:spPr>
          <a:xfrm>
            <a:off x="864037" y="1016000"/>
            <a:ext cx="4136231" cy="6400799"/>
          </a:xfrm>
          <a:prstGeom prst="roundRect">
            <a:avLst>
              <a:gd name="adj" fmla="val 9239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9738B35-4CE3-8635-B15A-1117815CAD1F}"/>
              </a:ext>
            </a:extLst>
          </p:cNvPr>
          <p:cNvSpPr/>
          <p:nvPr/>
        </p:nvSpPr>
        <p:spPr>
          <a:xfrm>
            <a:off x="1141333" y="1352153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16FFBB"/>
          </a:solidFill>
          <a:ln/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4370C7A4-2E28-6538-7346-91FD9259D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4930" y="1555750"/>
            <a:ext cx="333256" cy="33325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B7EF510B-9899-80BE-5170-9770DC503401}"/>
              </a:ext>
            </a:extLst>
          </p:cNvPr>
          <p:cNvSpPr/>
          <p:nvPr/>
        </p:nvSpPr>
        <p:spPr>
          <a:xfrm>
            <a:off x="1141333" y="245383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6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Massive Scale</a:t>
            </a:r>
            <a:endParaRPr lang="en-US" sz="3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A151AC7-FA6F-2E00-5A23-0FF7A9F6EE88}"/>
              </a:ext>
            </a:extLst>
          </p:cNvPr>
          <p:cNvSpPr/>
          <p:nvPr/>
        </p:nvSpPr>
        <p:spPr>
          <a:xfrm>
            <a:off x="1141332" y="3109952"/>
            <a:ext cx="3828455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6G will connect billions more devices than ever before, creating an exponentially larger attack surface for potential threats.</a:t>
            </a:r>
            <a:endParaRPr lang="en-US" sz="32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B9B2E98-5E0A-9FE7-8332-584B8B70A349}"/>
              </a:ext>
            </a:extLst>
          </p:cNvPr>
          <p:cNvSpPr/>
          <p:nvPr/>
        </p:nvSpPr>
        <p:spPr>
          <a:xfrm>
            <a:off x="5247084" y="1016000"/>
            <a:ext cx="4293632" cy="6400799"/>
          </a:xfrm>
          <a:prstGeom prst="roundRect">
            <a:avLst>
              <a:gd name="adj" fmla="val 9239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838A6DF-9D37-B03F-1A83-74B2A22637ED}"/>
              </a:ext>
            </a:extLst>
          </p:cNvPr>
          <p:cNvSpPr/>
          <p:nvPr/>
        </p:nvSpPr>
        <p:spPr>
          <a:xfrm>
            <a:off x="5524381" y="1352153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29DDDA"/>
          </a:solidFill>
          <a:ln/>
        </p:spPr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52BA7AC5-DD30-FD75-13EC-C02478AC7D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7978" y="1555750"/>
            <a:ext cx="333256" cy="333256"/>
          </a:xfrm>
          <a:prstGeom prst="rect">
            <a:avLst/>
          </a:prstGeom>
        </p:spPr>
      </p:pic>
      <p:sp>
        <p:nvSpPr>
          <p:cNvPr id="27" name="Text 3">
            <a:extLst>
              <a:ext uri="{FF2B5EF4-FFF2-40B4-BE49-F238E27FC236}">
                <a16:creationId xmlns:a16="http://schemas.microsoft.com/office/drawing/2014/main" id="{F780C0D3-9A12-5C06-1280-C7A15B6F42C6}"/>
              </a:ext>
            </a:extLst>
          </p:cNvPr>
          <p:cNvSpPr/>
          <p:nvPr/>
        </p:nvSpPr>
        <p:spPr>
          <a:xfrm>
            <a:off x="5400973" y="245383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36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Sophisticated Attacks</a:t>
            </a:r>
            <a:endParaRPr lang="en-US" sz="36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EC927D6C-0B2A-B9AF-0CC0-14555C856030}"/>
              </a:ext>
            </a:extLst>
          </p:cNvPr>
          <p:cNvSpPr/>
          <p:nvPr/>
        </p:nvSpPr>
        <p:spPr>
          <a:xfrm>
            <a:off x="5400972" y="3109952"/>
            <a:ext cx="3828455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3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As networks evolve, cybercriminals develop more advanced techniques to exploit vulnerabilities and breach systems.</a:t>
            </a:r>
            <a:endParaRPr lang="en-US" sz="3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1194E0-68D7-9594-4B9C-4A9F03FC1000}"/>
              </a:ext>
            </a:extLst>
          </p:cNvPr>
          <p:cNvGrpSpPr/>
          <p:nvPr/>
        </p:nvGrpSpPr>
        <p:grpSpPr>
          <a:xfrm>
            <a:off x="9630134" y="0"/>
            <a:ext cx="14630400" cy="8229600"/>
            <a:chOff x="0" y="0"/>
            <a:chExt cx="14630400" cy="82296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81FC5CB-0E83-A765-52E2-C6323C77D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14630400" cy="8229600"/>
            </a:xfrm>
            <a:prstGeom prst="rect">
              <a:avLst/>
            </a:prstGeom>
          </p:spPr>
        </p:pic>
        <p:graphicFrame>
          <p:nvGraphicFramePr>
            <p:cNvPr id="17" name="Diagram 16">
              <a:extLst>
                <a:ext uri="{FF2B5EF4-FFF2-40B4-BE49-F238E27FC236}">
                  <a16:creationId xmlns:a16="http://schemas.microsoft.com/office/drawing/2014/main" id="{61AF2F12-3DDD-935A-8C67-994BA76D709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82427050"/>
                </p:ext>
              </p:extLst>
            </p:nvPr>
          </p:nvGraphicFramePr>
          <p:xfrm>
            <a:off x="1003737" y="454104"/>
            <a:ext cx="13004363" cy="707699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65213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1AF0F-59F6-3A2C-5FDC-E897F5009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A3E77F8-8A3F-69B6-7934-3E7976947844}"/>
              </a:ext>
            </a:extLst>
          </p:cNvPr>
          <p:cNvSpPr/>
          <p:nvPr/>
        </p:nvSpPr>
        <p:spPr>
          <a:xfrm>
            <a:off x="864037" y="1016000"/>
            <a:ext cx="4136231" cy="6400799"/>
          </a:xfrm>
          <a:prstGeom prst="roundRect">
            <a:avLst>
              <a:gd name="adj" fmla="val 9239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FAA55BB-772C-2140-2848-E84FD2C565CE}"/>
              </a:ext>
            </a:extLst>
          </p:cNvPr>
          <p:cNvSpPr/>
          <p:nvPr/>
        </p:nvSpPr>
        <p:spPr>
          <a:xfrm>
            <a:off x="1141333" y="1352153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16FFBB"/>
          </a:solidFill>
          <a:ln/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E24E3E9D-B38E-A7A1-FE58-35C094BE5A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4930" y="1555750"/>
            <a:ext cx="333256" cy="33325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47B3B618-A84B-A6A1-5370-4D9280E8DF66}"/>
              </a:ext>
            </a:extLst>
          </p:cNvPr>
          <p:cNvSpPr/>
          <p:nvPr/>
        </p:nvSpPr>
        <p:spPr>
          <a:xfrm>
            <a:off x="1141333" y="245383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6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Massive Scale</a:t>
            </a:r>
            <a:endParaRPr lang="en-US" sz="3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B1D22EC-05B6-59A0-1998-ED6A7503116B}"/>
              </a:ext>
            </a:extLst>
          </p:cNvPr>
          <p:cNvSpPr/>
          <p:nvPr/>
        </p:nvSpPr>
        <p:spPr>
          <a:xfrm>
            <a:off x="1141332" y="3109952"/>
            <a:ext cx="3828455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6G will connect billions more devices than ever before, creating an exponentially larger attack surface for potential threats.</a:t>
            </a:r>
            <a:endParaRPr lang="en-US" sz="32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7F2FA9C-D395-F9DA-764D-73CD6F4352C0}"/>
              </a:ext>
            </a:extLst>
          </p:cNvPr>
          <p:cNvSpPr/>
          <p:nvPr/>
        </p:nvSpPr>
        <p:spPr>
          <a:xfrm>
            <a:off x="5247084" y="1016000"/>
            <a:ext cx="4293632" cy="6400799"/>
          </a:xfrm>
          <a:prstGeom prst="roundRect">
            <a:avLst>
              <a:gd name="adj" fmla="val 9239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C15F8B7-BC8F-BA81-11A9-F48D09068807}"/>
              </a:ext>
            </a:extLst>
          </p:cNvPr>
          <p:cNvSpPr/>
          <p:nvPr/>
        </p:nvSpPr>
        <p:spPr>
          <a:xfrm>
            <a:off x="5524381" y="1352153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29DDDA"/>
          </a:solidFill>
          <a:ln/>
        </p:spPr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513EAB13-EC24-BD40-98B0-8D547AB4AA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7978" y="1555750"/>
            <a:ext cx="333256" cy="333256"/>
          </a:xfrm>
          <a:prstGeom prst="rect">
            <a:avLst/>
          </a:prstGeom>
        </p:spPr>
      </p:pic>
      <p:sp>
        <p:nvSpPr>
          <p:cNvPr id="13" name="Shape 9">
            <a:extLst>
              <a:ext uri="{FF2B5EF4-FFF2-40B4-BE49-F238E27FC236}">
                <a16:creationId xmlns:a16="http://schemas.microsoft.com/office/drawing/2014/main" id="{7D979CC5-8083-8DFD-82CF-BCA70BFBD6E4}"/>
              </a:ext>
            </a:extLst>
          </p:cNvPr>
          <p:cNvSpPr/>
          <p:nvPr/>
        </p:nvSpPr>
        <p:spPr>
          <a:xfrm>
            <a:off x="9744432" y="1016000"/>
            <a:ext cx="4136231" cy="6400799"/>
          </a:xfrm>
          <a:prstGeom prst="roundRect">
            <a:avLst>
              <a:gd name="adj" fmla="val 9239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03EA4A8-F76E-793F-90E1-8E2E0749AB97}"/>
              </a:ext>
            </a:extLst>
          </p:cNvPr>
          <p:cNvSpPr/>
          <p:nvPr/>
        </p:nvSpPr>
        <p:spPr>
          <a:xfrm>
            <a:off x="10072529" y="1352153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37A7E7"/>
          </a:solidFill>
          <a:ln/>
        </p:spPr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735E02A3-1EB0-AA61-6D26-525BCFDB98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25326" y="1555750"/>
            <a:ext cx="333256" cy="333256"/>
          </a:xfrm>
          <a:prstGeom prst="rect">
            <a:avLst/>
          </a:prstGeom>
        </p:spPr>
      </p:pic>
      <p:sp>
        <p:nvSpPr>
          <p:cNvPr id="27" name="Text 3">
            <a:extLst>
              <a:ext uri="{FF2B5EF4-FFF2-40B4-BE49-F238E27FC236}">
                <a16:creationId xmlns:a16="http://schemas.microsoft.com/office/drawing/2014/main" id="{8EB9E811-80C3-37D5-216B-F104BD2CE050}"/>
              </a:ext>
            </a:extLst>
          </p:cNvPr>
          <p:cNvSpPr/>
          <p:nvPr/>
        </p:nvSpPr>
        <p:spPr>
          <a:xfrm>
            <a:off x="5400973" y="245383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36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Sophisticated Attacks</a:t>
            </a:r>
            <a:endParaRPr lang="en-US" sz="36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0A0F4400-E6CC-D416-C990-3941A542AB99}"/>
              </a:ext>
            </a:extLst>
          </p:cNvPr>
          <p:cNvSpPr/>
          <p:nvPr/>
        </p:nvSpPr>
        <p:spPr>
          <a:xfrm>
            <a:off x="5400972" y="3109952"/>
            <a:ext cx="3828455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3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As networks evolve, cybercriminals develop more advanced techniques to exploit vulnerabilities and breach systems.</a:t>
            </a:r>
            <a:endParaRPr lang="en-US" sz="320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E11CFA6C-F0FD-B69F-ADA5-54185754220F}"/>
              </a:ext>
            </a:extLst>
          </p:cNvPr>
          <p:cNvSpPr/>
          <p:nvPr/>
        </p:nvSpPr>
        <p:spPr>
          <a:xfrm>
            <a:off x="9934873" y="245383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36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Data Protection</a:t>
            </a:r>
            <a:endParaRPr lang="en-US" sz="36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1481389C-8478-CD14-CEF2-D83988C03FE6}"/>
              </a:ext>
            </a:extLst>
          </p:cNvPr>
          <p:cNvSpPr/>
          <p:nvPr/>
        </p:nvSpPr>
        <p:spPr>
          <a:xfrm>
            <a:off x="9934872" y="3109952"/>
            <a:ext cx="3828455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3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With more sensitive personal and business data flowing through networks, protecting privacy becomes increasingly complex and critical.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90456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235" y="371178"/>
            <a:ext cx="7637383" cy="584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Critical Security Challenges Ahead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7235" y="1273056"/>
            <a:ext cx="473869" cy="473869"/>
          </a:xfrm>
          <a:prstGeom prst="roundRect">
            <a:avLst>
              <a:gd name="adj" fmla="val 66677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21725" y="1345446"/>
            <a:ext cx="2782253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Expanded Attack Surface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21725" y="1764308"/>
            <a:ext cx="12471440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More connected devices mean exponentially more entry points for hackers to exploit and compromise 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24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network security.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7235" y="2674898"/>
            <a:ext cx="473869" cy="473869"/>
          </a:xfrm>
          <a:prstGeom prst="roundRect">
            <a:avLst>
              <a:gd name="adj" fmla="val 66677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21725" y="2747288"/>
            <a:ext cx="2478643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Data Privacy Concerns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21725" y="3166150"/>
            <a:ext cx="12471440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Protecting sensitive personal information becomes harder as data flows across more platforms and 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24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devices simultaneously.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7235" y="4051340"/>
            <a:ext cx="473869" cy="473869"/>
          </a:xfrm>
          <a:prstGeom prst="roundRect">
            <a:avLst>
              <a:gd name="adj" fmla="val 66677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1725" y="4123730"/>
            <a:ext cx="2435304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Device Authentication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21725" y="4542592"/>
            <a:ext cx="12471440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Identifying and preventing fake or cloned devices from accessing the network poses a growing challenge.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21725" y="5423972"/>
            <a:ext cx="2340412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AI-Powered Threats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21725" y="5842833"/>
            <a:ext cx="12471440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Cybercriminals leveraging artificial intelligence to create more sophisticated, adaptive, and harder-to-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24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detect attacks.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7235" y="6715323"/>
            <a:ext cx="473869" cy="473869"/>
          </a:xfrm>
          <a:prstGeom prst="roundRect">
            <a:avLst>
              <a:gd name="adj" fmla="val 66677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21725" y="6787713"/>
            <a:ext cx="2340412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IoT Vulnerabilities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21725" y="7206575"/>
            <a:ext cx="12471440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Many Internet of Things devices lack robust security features, creating weak points throughout the 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24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network.</a:t>
            </a:r>
            <a:endParaRPr lang="en-US" sz="240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D31C0108-7010-8D29-CF9E-F641F00C1CF8}"/>
              </a:ext>
            </a:extLst>
          </p:cNvPr>
          <p:cNvSpPr/>
          <p:nvPr/>
        </p:nvSpPr>
        <p:spPr>
          <a:xfrm>
            <a:off x="737234" y="5351582"/>
            <a:ext cx="473869" cy="473869"/>
          </a:xfrm>
          <a:prstGeom prst="roundRect">
            <a:avLst>
              <a:gd name="adj" fmla="val 66677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BFF66F-9E0C-3856-CD33-55429D36D0F9}"/>
              </a:ext>
            </a:extLst>
          </p:cNvPr>
          <p:cNvGrpSpPr/>
          <p:nvPr/>
        </p:nvGrpSpPr>
        <p:grpSpPr>
          <a:xfrm>
            <a:off x="142161" y="-7201912"/>
            <a:ext cx="14334688" cy="6927057"/>
            <a:chOff x="142161" y="641151"/>
            <a:chExt cx="14334688" cy="6927057"/>
          </a:xfrm>
        </p:grpSpPr>
        <p:sp>
          <p:nvSpPr>
            <p:cNvPr id="19" name="Text 0">
              <a:extLst>
                <a:ext uri="{FF2B5EF4-FFF2-40B4-BE49-F238E27FC236}">
                  <a16:creationId xmlns:a16="http://schemas.microsoft.com/office/drawing/2014/main" id="{F17FDA7B-B6DC-5D89-18B2-63F0144712FD}"/>
                </a:ext>
              </a:extLst>
            </p:cNvPr>
            <p:cNvSpPr/>
            <p:nvPr/>
          </p:nvSpPr>
          <p:spPr>
            <a:xfrm>
              <a:off x="643652" y="641151"/>
              <a:ext cx="7539514" cy="51089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000"/>
                </a:lnSpc>
                <a:buNone/>
              </a:pPr>
              <a:r>
                <a:rPr lang="en-US" sz="4000" b="1" dirty="0">
                  <a:solidFill>
                    <a:srgbClr val="F0FCFF"/>
                  </a:solidFill>
                  <a:ea typeface="Spline Sans Bold" pitchFamily="34" charset="-122"/>
                  <a:cs typeface="Spline Sans Bold" pitchFamily="34" charset="-120"/>
                </a:rPr>
                <a:t>Common Cyber Threats in 6G Networks</a:t>
              </a:r>
              <a:endParaRPr lang="en-US" sz="4000" dirty="0"/>
            </a:p>
          </p:txBody>
        </p:sp>
        <p:pic>
          <p:nvPicPr>
            <p:cNvPr id="20" name="Image 0" descr="preencoded.png">
              <a:extLst>
                <a:ext uri="{FF2B5EF4-FFF2-40B4-BE49-F238E27FC236}">
                  <a16:creationId xmlns:a16="http://schemas.microsoft.com/office/drawing/2014/main" id="{7BFF8880-9773-5439-AA4A-F432A8FA8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161" y="1887260"/>
              <a:ext cx="5680948" cy="5680948"/>
            </a:xfrm>
            <a:prstGeom prst="rect">
              <a:avLst/>
            </a:prstGeom>
          </p:spPr>
        </p:pic>
        <p:pic>
          <p:nvPicPr>
            <p:cNvPr id="21" name="Image 1" descr="preencoded.png">
              <a:extLst>
                <a:ext uri="{FF2B5EF4-FFF2-40B4-BE49-F238E27FC236}">
                  <a16:creationId xmlns:a16="http://schemas.microsoft.com/office/drawing/2014/main" id="{1274BC93-2662-CEBE-4C61-A95970127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29841" y="1944231"/>
              <a:ext cx="275868" cy="275868"/>
            </a:xfrm>
            <a:prstGeom prst="rect">
              <a:avLst/>
            </a:prstGeom>
          </p:spPr>
        </p:pic>
        <p:sp>
          <p:nvSpPr>
            <p:cNvPr id="22" name="Text 1">
              <a:extLst>
                <a:ext uri="{FF2B5EF4-FFF2-40B4-BE49-F238E27FC236}">
                  <a16:creationId xmlns:a16="http://schemas.microsoft.com/office/drawing/2014/main" id="{F8990488-808B-31E5-EBCA-545B20F23303}"/>
                </a:ext>
              </a:extLst>
            </p:cNvPr>
            <p:cNvSpPr/>
            <p:nvPr/>
          </p:nvSpPr>
          <p:spPr>
            <a:xfrm>
              <a:off x="6558478" y="1938695"/>
              <a:ext cx="2043470" cy="25538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Data Theft</a:t>
              </a:r>
              <a:endParaRPr lang="en-US" sz="2800" dirty="0"/>
            </a:p>
          </p:txBody>
        </p:sp>
        <p:pic>
          <p:nvPicPr>
            <p:cNvPr id="23" name="Image 2" descr="preencoded.png">
              <a:extLst>
                <a:ext uri="{FF2B5EF4-FFF2-40B4-BE49-F238E27FC236}">
                  <a16:creationId xmlns:a16="http://schemas.microsoft.com/office/drawing/2014/main" id="{6A920BBC-92FE-9E4A-294A-06B33E306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9841" y="5566092"/>
              <a:ext cx="275868" cy="275868"/>
            </a:xfrm>
            <a:prstGeom prst="rect">
              <a:avLst/>
            </a:prstGeom>
          </p:spPr>
        </p:pic>
        <p:sp>
          <p:nvSpPr>
            <p:cNvPr id="24" name="Text 2">
              <a:extLst>
                <a:ext uri="{FF2B5EF4-FFF2-40B4-BE49-F238E27FC236}">
                  <a16:creationId xmlns:a16="http://schemas.microsoft.com/office/drawing/2014/main" id="{A96A81DF-44F8-FCDF-10BD-16331E8DC029}"/>
                </a:ext>
              </a:extLst>
            </p:cNvPr>
            <p:cNvSpPr/>
            <p:nvPr/>
          </p:nvSpPr>
          <p:spPr>
            <a:xfrm>
              <a:off x="6558478" y="2377916"/>
              <a:ext cx="7918371" cy="294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Unauthorized access to steal valuable personal or corporate </a:t>
              </a:r>
            </a:p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information from network systems.</a:t>
              </a:r>
              <a:endParaRPr lang="en-US" sz="2400" dirty="0"/>
            </a:p>
          </p:txBody>
        </p:sp>
        <p:sp>
          <p:nvSpPr>
            <p:cNvPr id="25" name="Text 3">
              <a:extLst>
                <a:ext uri="{FF2B5EF4-FFF2-40B4-BE49-F238E27FC236}">
                  <a16:creationId xmlns:a16="http://schemas.microsoft.com/office/drawing/2014/main" id="{F26C16A0-D3B7-BEF5-A903-1C393982B9EC}"/>
                </a:ext>
              </a:extLst>
            </p:cNvPr>
            <p:cNvSpPr/>
            <p:nvPr/>
          </p:nvSpPr>
          <p:spPr>
            <a:xfrm>
              <a:off x="6558478" y="3154323"/>
              <a:ext cx="2043470" cy="25538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Identity Theft</a:t>
              </a:r>
              <a:endParaRPr lang="en-US" sz="2800" dirty="0"/>
            </a:p>
          </p:txBody>
        </p:sp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77002EB2-C0E1-60C0-29E7-B035CFAD1323}"/>
                </a:ext>
              </a:extLst>
            </p:cNvPr>
            <p:cNvSpPr/>
            <p:nvPr/>
          </p:nvSpPr>
          <p:spPr>
            <a:xfrm>
              <a:off x="6558478" y="3593544"/>
              <a:ext cx="7918371" cy="294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Criminals impersonating users to gain access to accounts,</a:t>
              </a:r>
            </a:p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services, and sensitive resources.</a:t>
              </a:r>
              <a:endParaRPr lang="en-US" sz="2400" dirty="0"/>
            </a:p>
          </p:txBody>
        </p:sp>
        <p:pic>
          <p:nvPicPr>
            <p:cNvPr id="27" name="Image 3" descr="preencoded.png">
              <a:extLst>
                <a:ext uri="{FF2B5EF4-FFF2-40B4-BE49-F238E27FC236}">
                  <a16:creationId xmlns:a16="http://schemas.microsoft.com/office/drawing/2014/main" id="{C3246080-761F-4FB1-6984-C6B0F5BAF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029841" y="4362787"/>
              <a:ext cx="275868" cy="275868"/>
            </a:xfrm>
            <a:prstGeom prst="rect">
              <a:avLst/>
            </a:prstGeom>
          </p:spPr>
        </p:pic>
        <p:sp>
          <p:nvSpPr>
            <p:cNvPr id="28" name="Text 5">
              <a:extLst>
                <a:ext uri="{FF2B5EF4-FFF2-40B4-BE49-F238E27FC236}">
                  <a16:creationId xmlns:a16="http://schemas.microsoft.com/office/drawing/2014/main" id="{014D77CB-71FB-C3CD-C4DA-4950D5DA40D5}"/>
                </a:ext>
              </a:extLst>
            </p:cNvPr>
            <p:cNvSpPr/>
            <p:nvPr/>
          </p:nvSpPr>
          <p:spPr>
            <a:xfrm>
              <a:off x="6558478" y="4357251"/>
              <a:ext cx="2043470" cy="25538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System Hacking</a:t>
              </a:r>
              <a:endParaRPr lang="en-US" sz="2800" dirty="0"/>
            </a:p>
          </p:txBody>
        </p:sp>
        <p:sp>
          <p:nvSpPr>
            <p:cNvPr id="29" name="Text 6">
              <a:extLst>
                <a:ext uri="{FF2B5EF4-FFF2-40B4-BE49-F238E27FC236}">
                  <a16:creationId xmlns:a16="http://schemas.microsoft.com/office/drawing/2014/main" id="{97796D70-70CB-FFC9-F3AB-89C098D63D78}"/>
                </a:ext>
              </a:extLst>
            </p:cNvPr>
            <p:cNvSpPr/>
            <p:nvPr/>
          </p:nvSpPr>
          <p:spPr>
            <a:xfrm>
              <a:off x="6558478" y="4796473"/>
              <a:ext cx="7918371" cy="294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Breaking into networks and devices to control systems or </a:t>
              </a:r>
            </a:p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extract confidential data.</a:t>
              </a:r>
              <a:endParaRPr lang="en-US" sz="2400" dirty="0"/>
            </a:p>
          </p:txBody>
        </p:sp>
        <p:sp>
          <p:nvSpPr>
            <p:cNvPr id="30" name="Text 7">
              <a:extLst>
                <a:ext uri="{FF2B5EF4-FFF2-40B4-BE49-F238E27FC236}">
                  <a16:creationId xmlns:a16="http://schemas.microsoft.com/office/drawing/2014/main" id="{8183D5F4-F62D-599D-2E1C-84D0438EBFEB}"/>
                </a:ext>
              </a:extLst>
            </p:cNvPr>
            <p:cNvSpPr/>
            <p:nvPr/>
          </p:nvSpPr>
          <p:spPr>
            <a:xfrm>
              <a:off x="6558478" y="5560179"/>
              <a:ext cx="2043470" cy="25538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DDoS Attacks</a:t>
              </a:r>
              <a:endParaRPr lang="en-US" sz="2800" dirty="0"/>
            </a:p>
          </p:txBody>
        </p:sp>
        <p:sp>
          <p:nvSpPr>
            <p:cNvPr id="31" name="Text 8">
              <a:extLst>
                <a:ext uri="{FF2B5EF4-FFF2-40B4-BE49-F238E27FC236}">
                  <a16:creationId xmlns:a16="http://schemas.microsoft.com/office/drawing/2014/main" id="{CB07FC6C-81E4-DDEF-78E6-63DFB9495BD5}"/>
                </a:ext>
              </a:extLst>
            </p:cNvPr>
            <p:cNvSpPr/>
            <p:nvPr/>
          </p:nvSpPr>
          <p:spPr>
            <a:xfrm>
              <a:off x="6558478" y="5999401"/>
              <a:ext cx="7918371" cy="294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Overwhelming networks with traffic to shut down services </a:t>
              </a:r>
            </a:p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and disrupt operations.</a:t>
              </a:r>
              <a:endParaRPr lang="en-US" sz="2400" dirty="0"/>
            </a:p>
          </p:txBody>
        </p:sp>
        <p:pic>
          <p:nvPicPr>
            <p:cNvPr id="32" name="Image 5" descr="preencoded.png">
              <a:extLst>
                <a:ext uri="{FF2B5EF4-FFF2-40B4-BE49-F238E27FC236}">
                  <a16:creationId xmlns:a16="http://schemas.microsoft.com/office/drawing/2014/main" id="{115BEC73-F45E-C12F-83EC-35670478E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29841" y="6768644"/>
              <a:ext cx="275868" cy="275868"/>
            </a:xfrm>
            <a:prstGeom prst="rect">
              <a:avLst/>
            </a:prstGeom>
          </p:spPr>
        </p:pic>
        <p:sp>
          <p:nvSpPr>
            <p:cNvPr id="33" name="Text 9">
              <a:extLst>
                <a:ext uri="{FF2B5EF4-FFF2-40B4-BE49-F238E27FC236}">
                  <a16:creationId xmlns:a16="http://schemas.microsoft.com/office/drawing/2014/main" id="{0F7E1655-A0B7-2E22-8D5D-A0C26899B6C5}"/>
                </a:ext>
              </a:extLst>
            </p:cNvPr>
            <p:cNvSpPr/>
            <p:nvPr/>
          </p:nvSpPr>
          <p:spPr>
            <a:xfrm>
              <a:off x="6558478" y="6763107"/>
              <a:ext cx="2043470" cy="25538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Malware &amp; Viruses</a:t>
              </a:r>
              <a:endParaRPr lang="en-US" sz="2800" dirty="0"/>
            </a:p>
          </p:txBody>
        </p:sp>
        <p:sp>
          <p:nvSpPr>
            <p:cNvPr id="34" name="Text 10">
              <a:extLst>
                <a:ext uri="{FF2B5EF4-FFF2-40B4-BE49-F238E27FC236}">
                  <a16:creationId xmlns:a16="http://schemas.microsoft.com/office/drawing/2014/main" id="{A136FEE5-DEB1-AE6B-A04A-FF3DC3D61266}"/>
                </a:ext>
              </a:extLst>
            </p:cNvPr>
            <p:cNvSpPr/>
            <p:nvPr/>
          </p:nvSpPr>
          <p:spPr>
            <a:xfrm>
              <a:off x="6558478" y="7202329"/>
              <a:ext cx="7918371" cy="294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Malicious software designed to damage systems, steal data, </a:t>
              </a:r>
            </a:p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or create backdoors for attackers.</a:t>
              </a:r>
              <a:endParaRPr lang="en-US" sz="2400" dirty="0"/>
            </a:p>
          </p:txBody>
        </p:sp>
        <p:pic>
          <p:nvPicPr>
            <p:cNvPr id="35" name="Image 2" descr="preencoded.png">
              <a:extLst>
                <a:ext uri="{FF2B5EF4-FFF2-40B4-BE49-F238E27FC236}">
                  <a16:creationId xmlns:a16="http://schemas.microsoft.com/office/drawing/2014/main" id="{85E7109A-64D0-294C-4E2B-672E1F860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9841" y="3593544"/>
              <a:ext cx="275868" cy="27586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F809D206-0FF0-9650-59D5-C516BEBFD52C}"/>
              </a:ext>
            </a:extLst>
          </p:cNvPr>
          <p:cNvGrpSpPr/>
          <p:nvPr/>
        </p:nvGrpSpPr>
        <p:grpSpPr>
          <a:xfrm>
            <a:off x="142161" y="641151"/>
            <a:ext cx="14334688" cy="6927057"/>
            <a:chOff x="142161" y="641151"/>
            <a:chExt cx="14334688" cy="6927057"/>
          </a:xfrm>
        </p:grpSpPr>
        <p:sp>
          <p:nvSpPr>
            <p:cNvPr id="2" name="Text 0"/>
            <p:cNvSpPr/>
            <p:nvPr/>
          </p:nvSpPr>
          <p:spPr>
            <a:xfrm>
              <a:off x="643652" y="641151"/>
              <a:ext cx="7539514" cy="51089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000"/>
                </a:lnSpc>
                <a:buNone/>
              </a:pPr>
              <a:r>
                <a:rPr lang="en-US" sz="4000" b="1" dirty="0">
                  <a:solidFill>
                    <a:srgbClr val="F0FCFF"/>
                  </a:solidFill>
                  <a:ea typeface="Spline Sans Bold" pitchFamily="34" charset="-122"/>
                  <a:cs typeface="Spline Sans Bold" pitchFamily="34" charset="-120"/>
                </a:rPr>
                <a:t>Common Cyber Threats in 6G Networks</a:t>
              </a:r>
              <a:endParaRPr lang="en-US" sz="4000" dirty="0"/>
            </a:p>
          </p:txBody>
        </p:sp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161" y="1887260"/>
              <a:ext cx="5680948" cy="5680948"/>
            </a:xfrm>
            <a:prstGeom prst="rect">
              <a:avLst/>
            </a:prstGeom>
          </p:spPr>
        </p:pic>
        <p:pic>
          <p:nvPicPr>
            <p:cNvPr id="4" name="Image 1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29841" y="1944231"/>
              <a:ext cx="275868" cy="275868"/>
            </a:xfrm>
            <a:prstGeom prst="rect">
              <a:avLst/>
            </a:prstGeom>
          </p:spPr>
        </p:pic>
        <p:sp>
          <p:nvSpPr>
            <p:cNvPr id="5" name="Text 1"/>
            <p:cNvSpPr/>
            <p:nvPr/>
          </p:nvSpPr>
          <p:spPr>
            <a:xfrm>
              <a:off x="6558478" y="1938695"/>
              <a:ext cx="2043470" cy="25538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Data Theft</a:t>
              </a:r>
              <a:endParaRPr lang="en-US" sz="2800" dirty="0"/>
            </a:p>
          </p:txBody>
        </p:sp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9841" y="5530902"/>
              <a:ext cx="275868" cy="275868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6558478" y="2377916"/>
              <a:ext cx="7918371" cy="294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Unauthorized access to steal valuable personal or corporate </a:t>
              </a:r>
            </a:p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information from network systems.</a:t>
              </a:r>
              <a:endParaRPr lang="en-US" sz="2400" dirty="0"/>
            </a:p>
          </p:txBody>
        </p:sp>
        <p:sp>
          <p:nvSpPr>
            <p:cNvPr id="8" name="Text 3"/>
            <p:cNvSpPr/>
            <p:nvPr/>
          </p:nvSpPr>
          <p:spPr>
            <a:xfrm>
              <a:off x="6558478" y="3154323"/>
              <a:ext cx="2043470" cy="25538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Identity Theft</a:t>
              </a:r>
              <a:endParaRPr lang="en-US" sz="2800" dirty="0"/>
            </a:p>
          </p:txBody>
        </p:sp>
        <p:sp>
          <p:nvSpPr>
            <p:cNvPr id="9" name="Text 4"/>
            <p:cNvSpPr/>
            <p:nvPr/>
          </p:nvSpPr>
          <p:spPr>
            <a:xfrm>
              <a:off x="6558478" y="3593544"/>
              <a:ext cx="7918371" cy="294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Criminals impersonating users to gain access to accounts,</a:t>
              </a:r>
            </a:p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services, and sensitive resources.</a:t>
              </a:r>
              <a:endParaRPr lang="en-US" sz="2400" dirty="0"/>
            </a:p>
          </p:txBody>
        </p:sp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029841" y="4286587"/>
              <a:ext cx="275868" cy="275868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6558478" y="4357251"/>
              <a:ext cx="2043470" cy="25538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System Hacking</a:t>
              </a:r>
              <a:endParaRPr lang="en-US" sz="2800" dirty="0"/>
            </a:p>
          </p:txBody>
        </p:sp>
        <p:sp>
          <p:nvSpPr>
            <p:cNvPr id="12" name="Text 6"/>
            <p:cNvSpPr/>
            <p:nvPr/>
          </p:nvSpPr>
          <p:spPr>
            <a:xfrm>
              <a:off x="6558478" y="4796473"/>
              <a:ext cx="7918371" cy="294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Breaking into networks and devices to control systems or </a:t>
              </a:r>
            </a:p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extract confidential data.</a:t>
              </a:r>
              <a:endParaRPr lang="en-US" sz="2400" dirty="0"/>
            </a:p>
          </p:txBody>
        </p:sp>
        <p:sp>
          <p:nvSpPr>
            <p:cNvPr id="14" name="Text 7"/>
            <p:cNvSpPr/>
            <p:nvPr/>
          </p:nvSpPr>
          <p:spPr>
            <a:xfrm>
              <a:off x="6558478" y="5560179"/>
              <a:ext cx="2043470" cy="25538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DDoS Attacks</a:t>
              </a:r>
              <a:endParaRPr lang="en-US" sz="2800" dirty="0"/>
            </a:p>
          </p:txBody>
        </p:sp>
        <p:sp>
          <p:nvSpPr>
            <p:cNvPr id="15" name="Text 8"/>
            <p:cNvSpPr/>
            <p:nvPr/>
          </p:nvSpPr>
          <p:spPr>
            <a:xfrm>
              <a:off x="6558478" y="5999401"/>
              <a:ext cx="7918371" cy="294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Overwhelming networks with traffic to shut down services </a:t>
              </a:r>
            </a:p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and disrupt operations.</a:t>
              </a:r>
              <a:endParaRPr lang="en-US" sz="2400" dirty="0"/>
            </a:p>
          </p:txBody>
        </p:sp>
        <p:pic>
          <p:nvPicPr>
            <p:cNvPr id="16" name="Image 5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29841" y="6768644"/>
              <a:ext cx="275868" cy="275868"/>
            </a:xfrm>
            <a:prstGeom prst="rect">
              <a:avLst/>
            </a:prstGeom>
          </p:spPr>
        </p:pic>
        <p:sp>
          <p:nvSpPr>
            <p:cNvPr id="17" name="Text 9"/>
            <p:cNvSpPr/>
            <p:nvPr/>
          </p:nvSpPr>
          <p:spPr>
            <a:xfrm>
              <a:off x="6558478" y="6763107"/>
              <a:ext cx="2043470" cy="25538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Malware &amp; Viruses</a:t>
              </a:r>
              <a:endParaRPr lang="en-US" sz="2800" dirty="0"/>
            </a:p>
          </p:txBody>
        </p:sp>
        <p:sp>
          <p:nvSpPr>
            <p:cNvPr id="18" name="Text 10"/>
            <p:cNvSpPr/>
            <p:nvPr/>
          </p:nvSpPr>
          <p:spPr>
            <a:xfrm>
              <a:off x="6558478" y="7202329"/>
              <a:ext cx="7918371" cy="294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Malicious software designed to damage systems, steal data, </a:t>
              </a:r>
            </a:p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or create backdoors for attackers.</a:t>
              </a:r>
              <a:endParaRPr lang="en-US" sz="2400" dirty="0"/>
            </a:p>
          </p:txBody>
        </p:sp>
        <p:pic>
          <p:nvPicPr>
            <p:cNvPr id="36" name="Image 2" descr="preencoded.png">
              <a:extLst>
                <a:ext uri="{FF2B5EF4-FFF2-40B4-BE49-F238E27FC236}">
                  <a16:creationId xmlns:a16="http://schemas.microsoft.com/office/drawing/2014/main" id="{68731CD7-2F76-A9EC-0F43-36763173A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9841" y="3133844"/>
              <a:ext cx="275868" cy="275868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2B58592-D28E-4091-85DF-1B4FCBB1A62C}"/>
              </a:ext>
            </a:extLst>
          </p:cNvPr>
          <p:cNvGrpSpPr/>
          <p:nvPr/>
        </p:nvGrpSpPr>
        <p:grpSpPr>
          <a:xfrm>
            <a:off x="14778226" y="638294"/>
            <a:ext cx="13628021" cy="7052402"/>
            <a:chOff x="810101" y="638294"/>
            <a:chExt cx="13628021" cy="7052402"/>
          </a:xfrm>
        </p:grpSpPr>
        <p:sp>
          <p:nvSpPr>
            <p:cNvPr id="64" name="Text 0">
              <a:extLst>
                <a:ext uri="{FF2B5EF4-FFF2-40B4-BE49-F238E27FC236}">
                  <a16:creationId xmlns:a16="http://schemas.microsoft.com/office/drawing/2014/main" id="{1E4D1065-E059-893A-5767-4C069441ADC5}"/>
                </a:ext>
              </a:extLst>
            </p:cNvPr>
            <p:cNvSpPr/>
            <p:nvPr/>
          </p:nvSpPr>
          <p:spPr>
            <a:xfrm>
              <a:off x="810101" y="638294"/>
              <a:ext cx="9438084" cy="6429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050"/>
                </a:lnSpc>
                <a:buNone/>
              </a:pPr>
              <a:r>
                <a:rPr lang="en-US" sz="4050" b="1" dirty="0">
                  <a:solidFill>
                    <a:srgbClr val="F0FCFF"/>
                  </a:solidFill>
                  <a:ea typeface="Spline Sans Bold" pitchFamily="34" charset="-122"/>
                  <a:cs typeface="Spline Sans Bold" pitchFamily="34" charset="-120"/>
                </a:rPr>
                <a:t>Advanced Security Technologies for 6G</a:t>
              </a:r>
              <a:endParaRPr lang="en-US" sz="4050" dirty="0"/>
            </a:p>
          </p:txBody>
        </p:sp>
        <p:pic>
          <p:nvPicPr>
            <p:cNvPr id="65" name="Image 0" descr="preencoded.png">
              <a:extLst>
                <a:ext uri="{FF2B5EF4-FFF2-40B4-BE49-F238E27FC236}">
                  <a16:creationId xmlns:a16="http://schemas.microsoft.com/office/drawing/2014/main" id="{5062D556-83A8-6DF7-C271-123CBE933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10101" y="1744147"/>
              <a:ext cx="694373" cy="694373"/>
            </a:xfrm>
            <a:prstGeom prst="rect">
              <a:avLst/>
            </a:prstGeom>
          </p:spPr>
        </p:pic>
        <p:sp>
          <p:nvSpPr>
            <p:cNvPr id="66" name="Text 1">
              <a:extLst>
                <a:ext uri="{FF2B5EF4-FFF2-40B4-BE49-F238E27FC236}">
                  <a16:creationId xmlns:a16="http://schemas.microsoft.com/office/drawing/2014/main" id="{19BD19DA-79B8-AC18-FDB3-C9938E33F5FB}"/>
                </a:ext>
              </a:extLst>
            </p:cNvPr>
            <p:cNvSpPr/>
            <p:nvPr/>
          </p:nvSpPr>
          <p:spPr>
            <a:xfrm>
              <a:off x="1793796" y="1939409"/>
              <a:ext cx="2571750" cy="3214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Strong Encryption</a:t>
              </a:r>
              <a:endParaRPr lang="en-US" sz="2800" dirty="0"/>
            </a:p>
          </p:txBody>
        </p:sp>
        <p:sp>
          <p:nvSpPr>
            <p:cNvPr id="67" name="Text 2">
              <a:extLst>
                <a:ext uri="{FF2B5EF4-FFF2-40B4-BE49-F238E27FC236}">
                  <a16:creationId xmlns:a16="http://schemas.microsoft.com/office/drawing/2014/main" id="{3AA0DBAF-72B6-40C2-F5A7-80789EAD486C}"/>
                </a:ext>
              </a:extLst>
            </p:cNvPr>
            <p:cNvSpPr/>
            <p:nvPr/>
          </p:nvSpPr>
          <p:spPr>
            <a:xfrm>
              <a:off x="1793796" y="2399705"/>
              <a:ext cx="3374552" cy="22217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Advanced cryptographic methods that scramble data, making it unreadable to unauthorized users even if intercepted during transmission.</a:t>
              </a:r>
              <a:endParaRPr lang="en-US" sz="2400" dirty="0"/>
            </a:p>
          </p:txBody>
        </p:sp>
        <p:pic>
          <p:nvPicPr>
            <p:cNvPr id="68" name="Image 1" descr="preencoded.png">
              <a:extLst>
                <a:ext uri="{FF2B5EF4-FFF2-40B4-BE49-F238E27FC236}">
                  <a16:creationId xmlns:a16="http://schemas.microsoft.com/office/drawing/2014/main" id="{CBA05DA2-BC0E-7CB5-9807-63808FEB0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243274" y="1744147"/>
              <a:ext cx="694373" cy="694373"/>
            </a:xfrm>
            <a:prstGeom prst="rect">
              <a:avLst/>
            </a:prstGeom>
          </p:spPr>
        </p:pic>
        <p:sp>
          <p:nvSpPr>
            <p:cNvPr id="69" name="Text 3">
              <a:extLst>
                <a:ext uri="{FF2B5EF4-FFF2-40B4-BE49-F238E27FC236}">
                  <a16:creationId xmlns:a16="http://schemas.microsoft.com/office/drawing/2014/main" id="{FB269827-8C7E-D886-AD31-5746D8DC6AE5}"/>
                </a:ext>
              </a:extLst>
            </p:cNvPr>
            <p:cNvSpPr/>
            <p:nvPr/>
          </p:nvSpPr>
          <p:spPr>
            <a:xfrm>
              <a:off x="6226969" y="1939409"/>
              <a:ext cx="2710458" cy="3214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Secure Authentication</a:t>
              </a:r>
              <a:endParaRPr lang="en-US" sz="2800" dirty="0"/>
            </a:p>
          </p:txBody>
        </p:sp>
        <p:sp>
          <p:nvSpPr>
            <p:cNvPr id="70" name="Text 4">
              <a:extLst>
                <a:ext uri="{FF2B5EF4-FFF2-40B4-BE49-F238E27FC236}">
                  <a16:creationId xmlns:a16="http://schemas.microsoft.com/office/drawing/2014/main" id="{F027D241-4B31-CC21-1070-B6343C25F83E}"/>
                </a:ext>
              </a:extLst>
            </p:cNvPr>
            <p:cNvSpPr/>
            <p:nvPr/>
          </p:nvSpPr>
          <p:spPr>
            <a:xfrm>
              <a:off x="6226969" y="2399705"/>
              <a:ext cx="3578686" cy="18514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Multi-factor verification and biometric systems ensuring only authorized users and devices can access the network.</a:t>
              </a:r>
              <a:endParaRPr lang="en-US" sz="2400" dirty="0"/>
            </a:p>
          </p:txBody>
        </p:sp>
        <p:pic>
          <p:nvPicPr>
            <p:cNvPr id="71" name="Image 3" descr="preencoded.png">
              <a:extLst>
                <a:ext uri="{FF2B5EF4-FFF2-40B4-BE49-F238E27FC236}">
                  <a16:creationId xmlns:a16="http://schemas.microsoft.com/office/drawing/2014/main" id="{50EB52C4-CDAF-04FF-B015-62A1918DD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96048" y="1744147"/>
              <a:ext cx="694373" cy="694373"/>
            </a:xfrm>
            <a:prstGeom prst="rect">
              <a:avLst/>
            </a:prstGeom>
          </p:spPr>
        </p:pic>
        <p:sp>
          <p:nvSpPr>
            <p:cNvPr id="72" name="Text 7">
              <a:extLst>
                <a:ext uri="{FF2B5EF4-FFF2-40B4-BE49-F238E27FC236}">
                  <a16:creationId xmlns:a16="http://schemas.microsoft.com/office/drawing/2014/main" id="{9624C870-D56C-BAAC-5C28-B1663CF2F52C}"/>
                </a:ext>
              </a:extLst>
            </p:cNvPr>
            <p:cNvSpPr/>
            <p:nvPr/>
          </p:nvSpPr>
          <p:spPr>
            <a:xfrm>
              <a:off x="10979743" y="1939409"/>
              <a:ext cx="2785824" cy="3214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Continuous Monitoring</a:t>
              </a:r>
              <a:endParaRPr lang="en-US" sz="2800" dirty="0"/>
            </a:p>
          </p:txBody>
        </p:sp>
        <p:sp>
          <p:nvSpPr>
            <p:cNvPr id="73" name="Text 8">
              <a:extLst>
                <a:ext uri="{FF2B5EF4-FFF2-40B4-BE49-F238E27FC236}">
                  <a16:creationId xmlns:a16="http://schemas.microsoft.com/office/drawing/2014/main" id="{BF6DA6C3-7EF5-A8A3-3FFE-9C9DC64799FA}"/>
                </a:ext>
              </a:extLst>
            </p:cNvPr>
            <p:cNvSpPr/>
            <p:nvPr/>
          </p:nvSpPr>
          <p:spPr>
            <a:xfrm>
              <a:off x="10979744" y="2399705"/>
              <a:ext cx="3458378" cy="14811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Real-time surveillance systems that track network activity 24/7 to detect and respond to threats instantly.</a:t>
              </a:r>
              <a:endParaRPr lang="en-US" sz="2400" dirty="0"/>
            </a:p>
          </p:txBody>
        </p:sp>
        <p:pic>
          <p:nvPicPr>
            <p:cNvPr id="74" name="Image 4" descr="preencoded.png">
              <a:extLst>
                <a:ext uri="{FF2B5EF4-FFF2-40B4-BE49-F238E27FC236}">
                  <a16:creationId xmlns:a16="http://schemas.microsoft.com/office/drawing/2014/main" id="{79B8121D-9F45-7691-271F-E2636EF84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76084" y="5183716"/>
              <a:ext cx="694373" cy="694373"/>
            </a:xfrm>
            <a:prstGeom prst="rect">
              <a:avLst/>
            </a:prstGeom>
          </p:spPr>
        </p:pic>
        <p:sp>
          <p:nvSpPr>
            <p:cNvPr id="75" name="Text 9">
              <a:extLst>
                <a:ext uri="{FF2B5EF4-FFF2-40B4-BE49-F238E27FC236}">
                  <a16:creationId xmlns:a16="http://schemas.microsoft.com/office/drawing/2014/main" id="{3697E723-AAA3-2116-F5B7-BAF63350A67C}"/>
                </a:ext>
              </a:extLst>
            </p:cNvPr>
            <p:cNvSpPr/>
            <p:nvPr/>
          </p:nvSpPr>
          <p:spPr>
            <a:xfrm>
              <a:off x="1810694" y="5378978"/>
              <a:ext cx="2571750" cy="3214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AI Threat Detection</a:t>
              </a:r>
              <a:endParaRPr lang="en-US" sz="2800" dirty="0"/>
            </a:p>
          </p:txBody>
        </p:sp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72D7536E-E5BA-5C9E-28DC-6CBF3EAFA476}"/>
                </a:ext>
              </a:extLst>
            </p:cNvPr>
            <p:cNvSpPr/>
            <p:nvPr/>
          </p:nvSpPr>
          <p:spPr>
            <a:xfrm>
              <a:off x="1810694" y="5839274"/>
              <a:ext cx="3876857" cy="18514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Machine learning algorithms that identify patterns, predict attacks, and automatically respond to emerging security threats.</a:t>
              </a:r>
              <a:endParaRPr lang="en-US" sz="24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A762A414-E9D8-AD6F-3026-9182A69EFD55}"/>
              </a:ext>
            </a:extLst>
          </p:cNvPr>
          <p:cNvGrpSpPr/>
          <p:nvPr/>
        </p:nvGrpSpPr>
        <p:grpSpPr>
          <a:xfrm>
            <a:off x="810101" y="638294"/>
            <a:ext cx="13628021" cy="7052402"/>
            <a:chOff x="810101" y="638294"/>
            <a:chExt cx="13628021" cy="7052402"/>
          </a:xfrm>
        </p:grpSpPr>
        <p:sp>
          <p:nvSpPr>
            <p:cNvPr id="2" name="Text 0"/>
            <p:cNvSpPr/>
            <p:nvPr/>
          </p:nvSpPr>
          <p:spPr>
            <a:xfrm>
              <a:off x="810101" y="638294"/>
              <a:ext cx="9438084" cy="6429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050"/>
                </a:lnSpc>
                <a:buNone/>
              </a:pPr>
              <a:r>
                <a:rPr lang="en-US" sz="4050" b="1" dirty="0">
                  <a:solidFill>
                    <a:srgbClr val="F0FCFF"/>
                  </a:solidFill>
                  <a:ea typeface="Spline Sans Bold" pitchFamily="34" charset="-122"/>
                  <a:cs typeface="Spline Sans Bold" pitchFamily="34" charset="-120"/>
                </a:rPr>
                <a:t>Advanced Security Technologies for 6G</a:t>
              </a:r>
              <a:endParaRPr lang="en-US" sz="4050" dirty="0"/>
            </a:p>
          </p:txBody>
        </p:sp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0101" y="1744147"/>
              <a:ext cx="694373" cy="694373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793796" y="1939409"/>
              <a:ext cx="2571750" cy="3214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Strong Encryption</a:t>
              </a:r>
              <a:endParaRPr lang="en-US" sz="28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1793796" y="2399705"/>
              <a:ext cx="3374552" cy="22217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Advanced cryptographic methods that scramble data, making it unreadable to unauthorized users even if intercepted during transmission.</a:t>
              </a:r>
              <a:endParaRPr lang="en-US" sz="2400" dirty="0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243274" y="1744147"/>
              <a:ext cx="694373" cy="694373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6226969" y="1939409"/>
              <a:ext cx="2710458" cy="3214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Secure Authentication</a:t>
              </a:r>
              <a:endParaRPr lang="en-US" sz="28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6226969" y="2399705"/>
              <a:ext cx="3578686" cy="18514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Multi-factor verification and biometric systems ensuring only authorized users and devices can access the network.</a:t>
              </a:r>
              <a:endParaRPr lang="en-US" sz="2400" dirty="0"/>
            </a:p>
          </p:txBody>
        </p:sp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996048" y="1744147"/>
              <a:ext cx="694373" cy="694373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10979743" y="1939409"/>
              <a:ext cx="2785824" cy="3214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Continuous Monitoring</a:t>
              </a:r>
              <a:endParaRPr lang="en-US" sz="2800" dirty="0"/>
            </a:p>
          </p:txBody>
        </p:sp>
        <p:sp>
          <p:nvSpPr>
            <p:cNvPr id="14" name="Text 8"/>
            <p:cNvSpPr/>
            <p:nvPr/>
          </p:nvSpPr>
          <p:spPr>
            <a:xfrm>
              <a:off x="10979744" y="2399705"/>
              <a:ext cx="3458378" cy="14811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Real-time surveillance systems that track network activity 24/7 to detect and respond to threats instantly.</a:t>
              </a:r>
              <a:endParaRPr lang="en-US" sz="2400" dirty="0"/>
            </a:p>
          </p:txBody>
        </p:sp>
        <p:pic>
          <p:nvPicPr>
            <p:cNvPr id="15" name="Image 4" descr="preencoded.png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76084" y="5183716"/>
              <a:ext cx="694373" cy="694373"/>
            </a:xfrm>
            <a:prstGeom prst="rect">
              <a:avLst/>
            </a:prstGeom>
          </p:spPr>
        </p:pic>
        <p:sp>
          <p:nvSpPr>
            <p:cNvPr id="16" name="Text 9"/>
            <p:cNvSpPr/>
            <p:nvPr/>
          </p:nvSpPr>
          <p:spPr>
            <a:xfrm>
              <a:off x="1810694" y="5378978"/>
              <a:ext cx="2571750" cy="3214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8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AI Threat Detection</a:t>
              </a:r>
              <a:endParaRPr lang="en-US" sz="2800" dirty="0"/>
            </a:p>
          </p:txBody>
        </p:sp>
        <p:sp>
          <p:nvSpPr>
            <p:cNvPr id="17" name="Text 10"/>
            <p:cNvSpPr/>
            <p:nvPr/>
          </p:nvSpPr>
          <p:spPr>
            <a:xfrm>
              <a:off x="1810694" y="5839274"/>
              <a:ext cx="3876857" cy="18514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4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Machine learning algorithms that identify patterns, predict attacks, and automatically respond to emerging security threats.</a:t>
              </a:r>
              <a:endParaRPr lang="en-US" sz="24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420F028-76F6-3161-A9C8-66A7F999FFEA}"/>
              </a:ext>
            </a:extLst>
          </p:cNvPr>
          <p:cNvGrpSpPr/>
          <p:nvPr/>
        </p:nvGrpSpPr>
        <p:grpSpPr>
          <a:xfrm>
            <a:off x="0" y="8462460"/>
            <a:ext cx="14630400" cy="8070574"/>
            <a:chOff x="0" y="0"/>
            <a:chExt cx="14630400" cy="8070574"/>
          </a:xfrm>
        </p:grpSpPr>
        <p:pic>
          <p:nvPicPr>
            <p:cNvPr id="20" name="Image 0" descr="preencoded.png">
              <a:extLst>
                <a:ext uri="{FF2B5EF4-FFF2-40B4-BE49-F238E27FC236}">
                  <a16:creationId xmlns:a16="http://schemas.microsoft.com/office/drawing/2014/main" id="{8AF3A8CD-967F-CC79-AB46-702D95AD4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14630400" cy="2259211"/>
            </a:xfrm>
            <a:prstGeom prst="rect">
              <a:avLst/>
            </a:prstGeom>
          </p:spPr>
        </p:pic>
        <p:sp>
          <p:nvSpPr>
            <p:cNvPr id="21" name="Text 0">
              <a:extLst>
                <a:ext uri="{FF2B5EF4-FFF2-40B4-BE49-F238E27FC236}">
                  <a16:creationId xmlns:a16="http://schemas.microsoft.com/office/drawing/2014/main" id="{E7D3D080-E46B-6CDF-BCA9-97019A513ED1}"/>
                </a:ext>
              </a:extLst>
            </p:cNvPr>
            <p:cNvSpPr/>
            <p:nvPr/>
          </p:nvSpPr>
          <p:spPr>
            <a:xfrm>
              <a:off x="632579" y="2769513"/>
              <a:ext cx="6121360" cy="5019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950"/>
                </a:lnSpc>
                <a:buNone/>
              </a:pPr>
              <a:r>
                <a:rPr lang="en-US" sz="3150" b="1" dirty="0">
                  <a:solidFill>
                    <a:srgbClr val="F0FCFF"/>
                  </a:solidFill>
                  <a:ea typeface="Spline Sans Bold" pitchFamily="34" charset="-122"/>
                  <a:cs typeface="Spline Sans Bold" pitchFamily="34" charset="-120"/>
                </a:rPr>
                <a:t>The Dual Role of AI in 6G Security</a:t>
              </a:r>
              <a:endParaRPr lang="en-US" sz="3150" dirty="0"/>
            </a:p>
          </p:txBody>
        </p:sp>
        <p:sp>
          <p:nvSpPr>
            <p:cNvPr id="22" name="Shape 1">
              <a:extLst>
                <a:ext uri="{FF2B5EF4-FFF2-40B4-BE49-F238E27FC236}">
                  <a16:creationId xmlns:a16="http://schemas.microsoft.com/office/drawing/2014/main" id="{6252E156-189F-F31C-2304-2CBC5955D46F}"/>
                </a:ext>
              </a:extLst>
            </p:cNvPr>
            <p:cNvSpPr/>
            <p:nvPr/>
          </p:nvSpPr>
          <p:spPr>
            <a:xfrm>
              <a:off x="7492611" y="3542586"/>
              <a:ext cx="22860" cy="4176713"/>
            </a:xfrm>
            <a:prstGeom prst="roundRect">
              <a:avLst>
                <a:gd name="adj" fmla="val 1185984"/>
              </a:avLst>
            </a:prstGeom>
            <a:solidFill>
              <a:srgbClr val="16FFBB"/>
            </a:solidFill>
            <a:ln/>
          </p:spPr>
        </p:sp>
        <p:sp>
          <p:nvSpPr>
            <p:cNvPr id="23" name="Shape 2">
              <a:extLst>
                <a:ext uri="{FF2B5EF4-FFF2-40B4-BE49-F238E27FC236}">
                  <a16:creationId xmlns:a16="http://schemas.microsoft.com/office/drawing/2014/main" id="{1273825B-E36D-0A00-4732-19152FB15119}"/>
                </a:ext>
              </a:extLst>
            </p:cNvPr>
            <p:cNvSpPr/>
            <p:nvPr/>
          </p:nvSpPr>
          <p:spPr>
            <a:xfrm>
              <a:off x="208723" y="3542586"/>
              <a:ext cx="7083618" cy="1907619"/>
            </a:xfrm>
            <a:prstGeom prst="roundRect">
              <a:avLst>
                <a:gd name="adj" fmla="val 14212"/>
              </a:avLst>
            </a:prstGeom>
            <a:solidFill>
              <a:srgbClr val="0A081B"/>
            </a:solidFill>
            <a:ln w="15240">
              <a:solidFill>
                <a:srgbClr val="16FFBB"/>
              </a:solidFill>
              <a:prstDash val="solid"/>
            </a:ln>
          </p:spPr>
        </p:sp>
        <p:sp>
          <p:nvSpPr>
            <p:cNvPr id="24" name="Text 3">
              <a:extLst>
                <a:ext uri="{FF2B5EF4-FFF2-40B4-BE49-F238E27FC236}">
                  <a16:creationId xmlns:a16="http://schemas.microsoft.com/office/drawing/2014/main" id="{E59F4C9A-7F82-B1FE-5852-086A2178D206}"/>
                </a:ext>
              </a:extLst>
            </p:cNvPr>
            <p:cNvSpPr/>
            <p:nvPr/>
          </p:nvSpPr>
          <p:spPr>
            <a:xfrm>
              <a:off x="5014548" y="3738563"/>
              <a:ext cx="2097055" cy="2509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1950"/>
                </a:lnSpc>
                <a:buNone/>
              </a:pPr>
              <a:r>
                <a:rPr lang="en-US" sz="24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✓ AI as a Defender</a:t>
              </a:r>
              <a:endParaRPr lang="en-US" sz="2400" dirty="0"/>
            </a:p>
          </p:txBody>
        </p:sp>
        <p:sp>
          <p:nvSpPr>
            <p:cNvPr id="25" name="Text 4">
              <a:extLst>
                <a:ext uri="{FF2B5EF4-FFF2-40B4-BE49-F238E27FC236}">
                  <a16:creationId xmlns:a16="http://schemas.microsoft.com/office/drawing/2014/main" id="{7EBFEEE3-02FD-18B3-1E61-2DBD751C9995}"/>
                </a:ext>
              </a:extLst>
            </p:cNvPr>
            <p:cNvSpPr/>
            <p:nvPr/>
          </p:nvSpPr>
          <p:spPr>
            <a:xfrm>
              <a:off x="208724" y="4048198"/>
              <a:ext cx="6902880" cy="11563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225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Artificial intelligence can detect cyber threats in real-time by analyzing massive amounts of network data. It identifies unusual patterns and predicts potential attacks before they happen, enabling proactive defense measures that keep systems secure.</a:t>
              </a:r>
              <a:endParaRPr lang="en-US" sz="2000" dirty="0"/>
            </a:p>
          </p:txBody>
        </p:sp>
        <p:sp>
          <p:nvSpPr>
            <p:cNvPr id="26" name="Shape 5">
              <a:extLst>
                <a:ext uri="{FF2B5EF4-FFF2-40B4-BE49-F238E27FC236}">
                  <a16:creationId xmlns:a16="http://schemas.microsoft.com/office/drawing/2014/main" id="{83A86311-4E5A-C456-2B42-4C599BE35088}"/>
                </a:ext>
              </a:extLst>
            </p:cNvPr>
            <p:cNvSpPr/>
            <p:nvPr/>
          </p:nvSpPr>
          <p:spPr>
            <a:xfrm>
              <a:off x="7715742" y="5811679"/>
              <a:ext cx="6749668" cy="1907619"/>
            </a:xfrm>
            <a:prstGeom prst="rect">
              <a:avLst/>
            </a:prstGeom>
            <a:solidFill>
              <a:srgbClr val="0A081B"/>
            </a:solidFill>
            <a:ln w="15240">
              <a:solidFill>
                <a:srgbClr val="37A7E7"/>
              </a:solidFill>
              <a:prstDash val="solid"/>
            </a:ln>
          </p:spPr>
        </p:sp>
        <p:sp>
          <p:nvSpPr>
            <p:cNvPr id="27" name="Text 6">
              <a:extLst>
                <a:ext uri="{FF2B5EF4-FFF2-40B4-BE49-F238E27FC236}">
                  <a16:creationId xmlns:a16="http://schemas.microsoft.com/office/drawing/2014/main" id="{29DF2B11-929C-409C-2262-F06AA2B73719}"/>
                </a:ext>
              </a:extLst>
            </p:cNvPr>
            <p:cNvSpPr/>
            <p:nvPr/>
          </p:nvSpPr>
          <p:spPr>
            <a:xfrm>
              <a:off x="7936237" y="6007656"/>
              <a:ext cx="2008227" cy="2509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2400" b="1" dirty="0">
                  <a:solidFill>
                    <a:schemeClr val="bg1"/>
                  </a:solidFill>
                  <a:ea typeface="Spline Sans Bold" pitchFamily="34" charset="-122"/>
                  <a:cs typeface="Spline Sans Bold" pitchFamily="34" charset="-120"/>
                </a:rPr>
                <a:t>⚠</a:t>
              </a:r>
              <a:r>
                <a:rPr lang="en-US" sz="24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 AI as a Weapon</a:t>
              </a:r>
              <a:endParaRPr lang="en-US" sz="2400" dirty="0"/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62AF0BE3-CA7F-7B64-3946-11A933A77918}"/>
                </a:ext>
              </a:extLst>
            </p:cNvPr>
            <p:cNvSpPr/>
            <p:nvPr/>
          </p:nvSpPr>
          <p:spPr>
            <a:xfrm>
              <a:off x="7936237" y="6277535"/>
              <a:ext cx="6501884" cy="11563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However, cybercriminals also leverage AI to create smarter, more adaptive attacks. AI-powered malware can learn and evolve to bypass security measures, making the cybersecurity landscape an ongoing arms race between defenders and attackers.</a:t>
              </a:r>
              <a:endParaRPr lang="en-US" sz="2000" dirty="0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B603100-468D-8A75-372E-23525B250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7112" t="7757" r="53495" b="4792"/>
            <a:stretch>
              <a:fillRect/>
            </a:stretch>
          </p:blipFill>
          <p:spPr>
            <a:xfrm>
              <a:off x="2668208" y="5579409"/>
              <a:ext cx="2346340" cy="249116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CE13241D-776A-995B-071B-594C63AE1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49060" t="7016" r="7281" b="4496"/>
            <a:stretch>
              <a:fillRect/>
            </a:stretch>
          </p:blipFill>
          <p:spPr>
            <a:xfrm>
              <a:off x="9820373" y="3003591"/>
              <a:ext cx="2770796" cy="268583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B3EBFAD0-77E7-EC2E-2227-CE83BED131F6}"/>
              </a:ext>
            </a:extLst>
          </p:cNvPr>
          <p:cNvGrpSpPr/>
          <p:nvPr/>
        </p:nvGrpSpPr>
        <p:grpSpPr>
          <a:xfrm>
            <a:off x="0" y="0"/>
            <a:ext cx="14630400" cy="8070574"/>
            <a:chOff x="0" y="0"/>
            <a:chExt cx="14630400" cy="8070574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4630400" cy="2259211"/>
            </a:xfrm>
            <a:prstGeom prst="rect">
              <a:avLst/>
            </a:prstGeom>
          </p:spPr>
        </p:pic>
        <p:sp>
          <p:nvSpPr>
            <p:cNvPr id="3" name="Text 0"/>
            <p:cNvSpPr/>
            <p:nvPr/>
          </p:nvSpPr>
          <p:spPr>
            <a:xfrm>
              <a:off x="632579" y="2769513"/>
              <a:ext cx="6121360" cy="5019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950"/>
                </a:lnSpc>
                <a:buNone/>
              </a:pPr>
              <a:r>
                <a:rPr lang="en-US" sz="3150" b="1" dirty="0">
                  <a:solidFill>
                    <a:srgbClr val="F0FCFF"/>
                  </a:solidFill>
                  <a:ea typeface="Spline Sans Bold" pitchFamily="34" charset="-122"/>
                  <a:cs typeface="Spline Sans Bold" pitchFamily="34" charset="-120"/>
                </a:rPr>
                <a:t>The Dual Role of AI in 6G Security</a:t>
              </a:r>
              <a:endParaRPr lang="en-US" sz="3150" dirty="0"/>
            </a:p>
          </p:txBody>
        </p:sp>
        <p:sp>
          <p:nvSpPr>
            <p:cNvPr id="4" name="Shape 1"/>
            <p:cNvSpPr/>
            <p:nvPr/>
          </p:nvSpPr>
          <p:spPr>
            <a:xfrm>
              <a:off x="7492611" y="3542586"/>
              <a:ext cx="22860" cy="4176713"/>
            </a:xfrm>
            <a:prstGeom prst="roundRect">
              <a:avLst>
                <a:gd name="adj" fmla="val 1185984"/>
              </a:avLst>
            </a:prstGeom>
            <a:solidFill>
              <a:srgbClr val="16FFBB"/>
            </a:solidFill>
            <a:ln/>
          </p:spPr>
        </p:sp>
        <p:sp>
          <p:nvSpPr>
            <p:cNvPr id="5" name="Shape 2"/>
            <p:cNvSpPr/>
            <p:nvPr/>
          </p:nvSpPr>
          <p:spPr>
            <a:xfrm>
              <a:off x="208723" y="3542586"/>
              <a:ext cx="7083618" cy="1907619"/>
            </a:xfrm>
            <a:prstGeom prst="roundRect">
              <a:avLst>
                <a:gd name="adj" fmla="val 14212"/>
              </a:avLst>
            </a:prstGeom>
            <a:solidFill>
              <a:srgbClr val="0A081B"/>
            </a:solidFill>
            <a:ln w="15240">
              <a:solidFill>
                <a:srgbClr val="16FFBB"/>
              </a:solidFill>
              <a:prstDash val="solid"/>
            </a:ln>
          </p:spPr>
        </p:sp>
        <p:sp>
          <p:nvSpPr>
            <p:cNvPr id="6" name="Text 3"/>
            <p:cNvSpPr/>
            <p:nvPr/>
          </p:nvSpPr>
          <p:spPr>
            <a:xfrm>
              <a:off x="5014548" y="3738563"/>
              <a:ext cx="2097055" cy="2509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1950"/>
                </a:lnSpc>
                <a:buNone/>
              </a:pPr>
              <a:r>
                <a:rPr lang="en-US" sz="24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✓ AI as a Defender</a:t>
              </a:r>
              <a:endParaRPr lang="en-US" sz="24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208724" y="4048198"/>
              <a:ext cx="6902880" cy="11563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225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Artificial intelligence can detect cyber threats in real-time by analyzing massive amounts of network data. It identifies unusual patterns and predicts potential attacks before they happen, enabling proactive defense measures that keep systems secure.</a:t>
              </a:r>
              <a:endParaRPr lang="en-US" sz="20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7715742" y="5811679"/>
              <a:ext cx="6749668" cy="1907619"/>
            </a:xfrm>
            <a:prstGeom prst="rect">
              <a:avLst/>
            </a:prstGeom>
            <a:solidFill>
              <a:srgbClr val="0A081B"/>
            </a:solidFill>
            <a:ln w="15240">
              <a:solidFill>
                <a:srgbClr val="37A7E7"/>
              </a:solidFill>
              <a:prstDash val="solid"/>
            </a:ln>
          </p:spPr>
        </p:sp>
        <p:sp>
          <p:nvSpPr>
            <p:cNvPr id="9" name="Text 6"/>
            <p:cNvSpPr/>
            <p:nvPr/>
          </p:nvSpPr>
          <p:spPr>
            <a:xfrm>
              <a:off x="7936237" y="6007656"/>
              <a:ext cx="2008227" cy="2509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2400" b="1" dirty="0">
                  <a:solidFill>
                    <a:schemeClr val="bg1"/>
                  </a:solidFill>
                  <a:ea typeface="Spline Sans Bold" pitchFamily="34" charset="-122"/>
                  <a:cs typeface="Spline Sans Bold" pitchFamily="34" charset="-120"/>
                </a:rPr>
                <a:t>⚠</a:t>
              </a:r>
              <a:r>
                <a:rPr lang="en-US" sz="24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 AI as a Weapon</a:t>
              </a:r>
              <a:endParaRPr lang="en-US" sz="24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7936237" y="6277535"/>
              <a:ext cx="6501884" cy="11563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However, cybercriminals also leverage AI to create smarter, more adaptive attacks. AI-powered malware can learn and evolve to bypass security measures, making the cybersecurity landscape an ongoing arms race between defenders and attackers.</a:t>
              </a:r>
              <a:endParaRPr lang="en-US" sz="2000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FAF8A99-50A6-C827-B370-61BB92C55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112" t="7757" r="53495" b="4792"/>
            <a:stretch>
              <a:fillRect/>
            </a:stretch>
          </p:blipFill>
          <p:spPr>
            <a:xfrm>
              <a:off x="2668208" y="5579409"/>
              <a:ext cx="2346340" cy="249116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18AB13A-5E62-5822-6B56-04C9AC608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9060" t="7016" r="7281" b="4496"/>
            <a:stretch>
              <a:fillRect/>
            </a:stretch>
          </p:blipFill>
          <p:spPr>
            <a:xfrm>
              <a:off x="9820373" y="3003591"/>
              <a:ext cx="2770796" cy="2685835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D72942E-2611-B417-AFD6-868BE711C7D9}"/>
              </a:ext>
            </a:extLst>
          </p:cNvPr>
          <p:cNvGrpSpPr/>
          <p:nvPr/>
        </p:nvGrpSpPr>
        <p:grpSpPr>
          <a:xfrm>
            <a:off x="14830670" y="674965"/>
            <a:ext cx="14379616" cy="6667663"/>
            <a:chOff x="229672" y="674965"/>
            <a:chExt cx="14379616" cy="6667663"/>
          </a:xfrm>
        </p:grpSpPr>
        <p:sp>
          <p:nvSpPr>
            <p:cNvPr id="12" name="Text 0">
              <a:extLst>
                <a:ext uri="{FF2B5EF4-FFF2-40B4-BE49-F238E27FC236}">
                  <a16:creationId xmlns:a16="http://schemas.microsoft.com/office/drawing/2014/main" id="{5E23CA72-8771-0798-5F8B-8670FB375375}"/>
                </a:ext>
              </a:extLst>
            </p:cNvPr>
            <p:cNvSpPr/>
            <p:nvPr/>
          </p:nvSpPr>
          <p:spPr>
            <a:xfrm>
              <a:off x="666988" y="674965"/>
              <a:ext cx="7021116" cy="52935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150"/>
                </a:lnSpc>
                <a:buNone/>
              </a:pPr>
              <a:r>
                <a:rPr lang="en-US" sz="4000" b="1" dirty="0">
                  <a:solidFill>
                    <a:srgbClr val="F0FCFF"/>
                  </a:solidFill>
                  <a:ea typeface="Spline Sans Bold" pitchFamily="34" charset="-122"/>
                  <a:cs typeface="Spline Sans Bold" pitchFamily="34" charset="-120"/>
                </a:rPr>
                <a:t>How Users Can Protect Themselves</a:t>
              </a:r>
              <a:endParaRPr lang="en-US" sz="4000" dirty="0"/>
            </a:p>
          </p:txBody>
        </p:sp>
        <p:sp>
          <p:nvSpPr>
            <p:cNvPr id="13" name="Text 1">
              <a:extLst>
                <a:ext uri="{FF2B5EF4-FFF2-40B4-BE49-F238E27FC236}">
                  <a16:creationId xmlns:a16="http://schemas.microsoft.com/office/drawing/2014/main" id="{7FEB4B7B-D6AD-27F1-8263-24760AA624A0}"/>
                </a:ext>
              </a:extLst>
            </p:cNvPr>
            <p:cNvSpPr/>
            <p:nvPr/>
          </p:nvSpPr>
          <p:spPr>
            <a:xfrm>
              <a:off x="229672" y="1704499"/>
              <a:ext cx="190500" cy="2382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Spline Sans Light" pitchFamily="34" charset="-122"/>
                  <a:cs typeface="Spline Sans Light" pitchFamily="34" charset="-120"/>
                </a:rPr>
                <a:t>01</a:t>
              </a:r>
              <a:endParaRPr lang="en-US" sz="2000" dirty="0"/>
            </a:p>
          </p:txBody>
        </p:sp>
        <p:sp>
          <p:nvSpPr>
            <p:cNvPr id="15" name="Shape 2">
              <a:extLst>
                <a:ext uri="{FF2B5EF4-FFF2-40B4-BE49-F238E27FC236}">
                  <a16:creationId xmlns:a16="http://schemas.microsoft.com/office/drawing/2014/main" id="{8B9E2012-3BE5-CB47-98ED-510D81223A19}"/>
                </a:ext>
              </a:extLst>
            </p:cNvPr>
            <p:cNvSpPr/>
            <p:nvPr/>
          </p:nvSpPr>
          <p:spPr>
            <a:xfrm>
              <a:off x="229672" y="2005608"/>
              <a:ext cx="3800594" cy="22860"/>
            </a:xfrm>
            <a:prstGeom prst="rect">
              <a:avLst/>
            </a:prstGeom>
            <a:solidFill>
              <a:srgbClr val="16FFBB"/>
            </a:solidFill>
            <a:ln/>
          </p:spPr>
        </p:sp>
        <p:sp>
          <p:nvSpPr>
            <p:cNvPr id="41" name="Text 3">
              <a:extLst>
                <a:ext uri="{FF2B5EF4-FFF2-40B4-BE49-F238E27FC236}">
                  <a16:creationId xmlns:a16="http://schemas.microsoft.com/office/drawing/2014/main" id="{F00629A7-6CA0-1B8D-52B7-FE56B6D26085}"/>
                </a:ext>
              </a:extLst>
            </p:cNvPr>
            <p:cNvSpPr/>
            <p:nvPr/>
          </p:nvSpPr>
          <p:spPr>
            <a:xfrm>
              <a:off x="229672" y="2146578"/>
              <a:ext cx="2229922" cy="2646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4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Use Strong Passwords</a:t>
              </a:r>
              <a:endParaRPr lang="en-US" sz="2400" dirty="0"/>
            </a:p>
          </p:txBody>
        </p:sp>
        <p:sp>
          <p:nvSpPr>
            <p:cNvPr id="42" name="Text 4">
              <a:extLst>
                <a:ext uri="{FF2B5EF4-FFF2-40B4-BE49-F238E27FC236}">
                  <a16:creationId xmlns:a16="http://schemas.microsoft.com/office/drawing/2014/main" id="{493A75DD-0C5E-28B2-2B5F-CA7C158D470B}"/>
                </a:ext>
              </a:extLst>
            </p:cNvPr>
            <p:cNvSpPr/>
            <p:nvPr/>
          </p:nvSpPr>
          <p:spPr>
            <a:xfrm>
              <a:off x="229672" y="2601754"/>
              <a:ext cx="4114568" cy="914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Create unique, complex passwords with mixed characters and enable two-factor authentication wherever possible.</a:t>
              </a:r>
              <a:endParaRPr lang="en-US" sz="2000" dirty="0"/>
            </a:p>
          </p:txBody>
        </p:sp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FDD51CCC-DED8-A12E-98B4-ECF622F1DB4B}"/>
                </a:ext>
              </a:extLst>
            </p:cNvPr>
            <p:cNvSpPr/>
            <p:nvPr/>
          </p:nvSpPr>
          <p:spPr>
            <a:xfrm>
              <a:off x="4658082" y="1704499"/>
              <a:ext cx="190500" cy="2382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Spline Sans Light" pitchFamily="34" charset="-122"/>
                  <a:cs typeface="Spline Sans Light" pitchFamily="34" charset="-120"/>
                </a:rPr>
                <a:t>02</a:t>
              </a:r>
              <a:endParaRPr lang="en-US" sz="2000" dirty="0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670F0ED0-AB0C-3BD8-1B5E-81FF8683A80A}"/>
                </a:ext>
              </a:extLst>
            </p:cNvPr>
            <p:cNvSpPr/>
            <p:nvPr/>
          </p:nvSpPr>
          <p:spPr>
            <a:xfrm>
              <a:off x="4658082" y="2005608"/>
              <a:ext cx="3800713" cy="22860"/>
            </a:xfrm>
            <a:prstGeom prst="rect">
              <a:avLst/>
            </a:prstGeom>
            <a:solidFill>
              <a:srgbClr val="29DDDA"/>
            </a:solidFill>
            <a:ln/>
          </p:spPr>
        </p:sp>
        <p:sp>
          <p:nvSpPr>
            <p:cNvPr id="45" name="Text 7">
              <a:extLst>
                <a:ext uri="{FF2B5EF4-FFF2-40B4-BE49-F238E27FC236}">
                  <a16:creationId xmlns:a16="http://schemas.microsoft.com/office/drawing/2014/main" id="{F33C4DB5-B93D-31A8-96C0-4BC927A353A6}"/>
                </a:ext>
              </a:extLst>
            </p:cNvPr>
            <p:cNvSpPr/>
            <p:nvPr/>
          </p:nvSpPr>
          <p:spPr>
            <a:xfrm>
              <a:off x="4658082" y="2146578"/>
              <a:ext cx="2221349" cy="2646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4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Keep Devices Updated</a:t>
              </a:r>
              <a:endParaRPr lang="en-US" sz="2400" dirty="0"/>
            </a:p>
          </p:txBody>
        </p:sp>
        <p:sp>
          <p:nvSpPr>
            <p:cNvPr id="46" name="Text 8">
              <a:extLst>
                <a:ext uri="{FF2B5EF4-FFF2-40B4-BE49-F238E27FC236}">
                  <a16:creationId xmlns:a16="http://schemas.microsoft.com/office/drawing/2014/main" id="{42D77125-A04A-F113-9EC9-5BFAAF433081}"/>
                </a:ext>
              </a:extLst>
            </p:cNvPr>
            <p:cNvSpPr/>
            <p:nvPr/>
          </p:nvSpPr>
          <p:spPr>
            <a:xfrm>
              <a:off x="4658082" y="2601754"/>
              <a:ext cx="4038657" cy="914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Regularly install software and security updates to patch vulnerabilities and protect against new threats.</a:t>
              </a:r>
              <a:endParaRPr lang="en-US" sz="2000" dirty="0"/>
            </a:p>
          </p:txBody>
        </p:sp>
        <p:sp>
          <p:nvSpPr>
            <p:cNvPr id="47" name="Text 9">
              <a:extLst>
                <a:ext uri="{FF2B5EF4-FFF2-40B4-BE49-F238E27FC236}">
                  <a16:creationId xmlns:a16="http://schemas.microsoft.com/office/drawing/2014/main" id="{10DF8698-1E4D-5DED-A8D6-BF339E42937C}"/>
                </a:ext>
              </a:extLst>
            </p:cNvPr>
            <p:cNvSpPr/>
            <p:nvPr/>
          </p:nvSpPr>
          <p:spPr>
            <a:xfrm>
              <a:off x="229672" y="3849886"/>
              <a:ext cx="190500" cy="2382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Spline Sans Light" pitchFamily="34" charset="-122"/>
                  <a:cs typeface="Spline Sans Light" pitchFamily="34" charset="-120"/>
                </a:rPr>
                <a:t>03</a:t>
              </a:r>
              <a:endParaRPr lang="en-US" sz="2000" dirty="0"/>
            </a:p>
          </p:txBody>
        </p:sp>
        <p:sp>
          <p:nvSpPr>
            <p:cNvPr id="48" name="Shape 10">
              <a:extLst>
                <a:ext uri="{FF2B5EF4-FFF2-40B4-BE49-F238E27FC236}">
                  <a16:creationId xmlns:a16="http://schemas.microsoft.com/office/drawing/2014/main" id="{906CE9A0-8C8E-C3C5-4CE2-14226095AD04}"/>
                </a:ext>
              </a:extLst>
            </p:cNvPr>
            <p:cNvSpPr/>
            <p:nvPr/>
          </p:nvSpPr>
          <p:spPr>
            <a:xfrm>
              <a:off x="229672" y="4150995"/>
              <a:ext cx="3800594" cy="22860"/>
            </a:xfrm>
            <a:prstGeom prst="rect">
              <a:avLst/>
            </a:prstGeom>
            <a:solidFill>
              <a:srgbClr val="37A7E7"/>
            </a:solidFill>
            <a:ln/>
          </p:spPr>
        </p:sp>
        <p:sp>
          <p:nvSpPr>
            <p:cNvPr id="49" name="Text 11">
              <a:extLst>
                <a:ext uri="{FF2B5EF4-FFF2-40B4-BE49-F238E27FC236}">
                  <a16:creationId xmlns:a16="http://schemas.microsoft.com/office/drawing/2014/main" id="{B85C2C83-08E6-C65A-E1E4-2AF78924FBDB}"/>
                </a:ext>
              </a:extLst>
            </p:cNvPr>
            <p:cNvSpPr/>
            <p:nvPr/>
          </p:nvSpPr>
          <p:spPr>
            <a:xfrm>
              <a:off x="229672" y="4291965"/>
              <a:ext cx="2117765" cy="2646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4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Avoid Unknown Apps</a:t>
              </a:r>
              <a:endParaRPr lang="en-US" sz="2400" dirty="0"/>
            </a:p>
          </p:txBody>
        </p:sp>
        <p:sp>
          <p:nvSpPr>
            <p:cNvPr id="50" name="Text 12">
              <a:extLst>
                <a:ext uri="{FF2B5EF4-FFF2-40B4-BE49-F238E27FC236}">
                  <a16:creationId xmlns:a16="http://schemas.microsoft.com/office/drawing/2014/main" id="{0488C8BD-E94B-B246-387A-C8520DE596F4}"/>
                </a:ext>
              </a:extLst>
            </p:cNvPr>
            <p:cNvSpPr/>
            <p:nvPr/>
          </p:nvSpPr>
          <p:spPr>
            <a:xfrm>
              <a:off x="229672" y="4747141"/>
              <a:ext cx="4114568" cy="914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Only download applications from trusted sources and review permissions before installation.</a:t>
              </a:r>
              <a:endParaRPr lang="en-US" sz="2000" dirty="0"/>
            </a:p>
          </p:txBody>
        </p:sp>
        <p:sp>
          <p:nvSpPr>
            <p:cNvPr id="51" name="Text 13">
              <a:extLst>
                <a:ext uri="{FF2B5EF4-FFF2-40B4-BE49-F238E27FC236}">
                  <a16:creationId xmlns:a16="http://schemas.microsoft.com/office/drawing/2014/main" id="{AEE0E6A1-EB73-42B3-DE16-6D66BF77082B}"/>
                </a:ext>
              </a:extLst>
            </p:cNvPr>
            <p:cNvSpPr/>
            <p:nvPr/>
          </p:nvSpPr>
          <p:spPr>
            <a:xfrm>
              <a:off x="4658082" y="3849886"/>
              <a:ext cx="190500" cy="2382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Spline Sans Light" pitchFamily="34" charset="-122"/>
                  <a:cs typeface="Spline Sans Light" pitchFamily="34" charset="-120"/>
                </a:rPr>
                <a:t>04</a:t>
              </a:r>
              <a:endParaRPr lang="en-US" sz="2000" dirty="0"/>
            </a:p>
          </p:txBody>
        </p:sp>
        <p:sp>
          <p:nvSpPr>
            <p:cNvPr id="52" name="Text 15">
              <a:extLst>
                <a:ext uri="{FF2B5EF4-FFF2-40B4-BE49-F238E27FC236}">
                  <a16:creationId xmlns:a16="http://schemas.microsoft.com/office/drawing/2014/main" id="{C56FE163-798E-B9E7-1848-C402BA5D0991}"/>
                </a:ext>
              </a:extLst>
            </p:cNvPr>
            <p:cNvSpPr/>
            <p:nvPr/>
          </p:nvSpPr>
          <p:spPr>
            <a:xfrm>
              <a:off x="4658082" y="4291965"/>
              <a:ext cx="2288381" cy="2646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4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Check Privacy Settings</a:t>
              </a:r>
              <a:endParaRPr lang="en-US" sz="2400" dirty="0"/>
            </a:p>
          </p:txBody>
        </p:sp>
        <p:sp>
          <p:nvSpPr>
            <p:cNvPr id="53" name="Text 16">
              <a:extLst>
                <a:ext uri="{FF2B5EF4-FFF2-40B4-BE49-F238E27FC236}">
                  <a16:creationId xmlns:a16="http://schemas.microsoft.com/office/drawing/2014/main" id="{80B71C89-A2F5-7AEE-3C57-E296F4703526}"/>
                </a:ext>
              </a:extLst>
            </p:cNvPr>
            <p:cNvSpPr/>
            <p:nvPr/>
          </p:nvSpPr>
          <p:spPr>
            <a:xfrm>
              <a:off x="4658082" y="4747141"/>
              <a:ext cx="4038657" cy="6098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Review and adjust privacy controls on all devices and accounts to limit data sharing.</a:t>
              </a:r>
              <a:endParaRPr lang="en-US" sz="2000" dirty="0"/>
            </a:p>
          </p:txBody>
        </p:sp>
        <p:sp>
          <p:nvSpPr>
            <p:cNvPr id="54" name="Text 17">
              <a:extLst>
                <a:ext uri="{FF2B5EF4-FFF2-40B4-BE49-F238E27FC236}">
                  <a16:creationId xmlns:a16="http://schemas.microsoft.com/office/drawing/2014/main" id="{774B22BE-5245-EB73-74D5-93AF3A6D736D}"/>
                </a:ext>
              </a:extLst>
            </p:cNvPr>
            <p:cNvSpPr/>
            <p:nvPr/>
          </p:nvSpPr>
          <p:spPr>
            <a:xfrm>
              <a:off x="229672" y="5995273"/>
              <a:ext cx="190500" cy="2382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Spline Sans Light" pitchFamily="34" charset="-122"/>
                  <a:cs typeface="Spline Sans Light" pitchFamily="34" charset="-120"/>
                </a:rPr>
                <a:t>05</a:t>
              </a:r>
              <a:endParaRPr lang="en-US" sz="2000" dirty="0"/>
            </a:p>
          </p:txBody>
        </p:sp>
        <p:sp>
          <p:nvSpPr>
            <p:cNvPr id="55" name="Shape 18">
              <a:extLst>
                <a:ext uri="{FF2B5EF4-FFF2-40B4-BE49-F238E27FC236}">
                  <a16:creationId xmlns:a16="http://schemas.microsoft.com/office/drawing/2014/main" id="{30CF820B-ABBB-29F8-619B-1F036BE54970}"/>
                </a:ext>
              </a:extLst>
            </p:cNvPr>
            <p:cNvSpPr/>
            <p:nvPr/>
          </p:nvSpPr>
          <p:spPr>
            <a:xfrm>
              <a:off x="229672" y="6296382"/>
              <a:ext cx="7791807" cy="22860"/>
            </a:xfrm>
            <a:prstGeom prst="rect">
              <a:avLst/>
            </a:prstGeom>
            <a:solidFill>
              <a:srgbClr val="16FFBB"/>
            </a:solidFill>
            <a:ln/>
          </p:spPr>
        </p:sp>
        <p:sp>
          <p:nvSpPr>
            <p:cNvPr id="56" name="Text 19">
              <a:extLst>
                <a:ext uri="{FF2B5EF4-FFF2-40B4-BE49-F238E27FC236}">
                  <a16:creationId xmlns:a16="http://schemas.microsoft.com/office/drawing/2014/main" id="{F76CFD49-59E4-246B-FAFE-4298DD91CCF6}"/>
                </a:ext>
              </a:extLst>
            </p:cNvPr>
            <p:cNvSpPr/>
            <p:nvPr/>
          </p:nvSpPr>
          <p:spPr>
            <a:xfrm>
              <a:off x="229672" y="6437352"/>
              <a:ext cx="2117765" cy="2646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4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Stay Alert Online</a:t>
              </a:r>
              <a:endParaRPr lang="en-US" sz="2400" dirty="0"/>
            </a:p>
          </p:txBody>
        </p:sp>
        <p:sp>
          <p:nvSpPr>
            <p:cNvPr id="57" name="Text 20">
              <a:extLst>
                <a:ext uri="{FF2B5EF4-FFF2-40B4-BE49-F238E27FC236}">
                  <a16:creationId xmlns:a16="http://schemas.microsoft.com/office/drawing/2014/main" id="{45BE48E0-4380-828E-0DC3-F4974EB1522A}"/>
                </a:ext>
              </a:extLst>
            </p:cNvPr>
            <p:cNvSpPr/>
            <p:nvPr/>
          </p:nvSpPr>
          <p:spPr>
            <a:xfrm>
              <a:off x="229672" y="6892528"/>
              <a:ext cx="7791807" cy="3049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Never click suspicious links or open unexpected attachments that could </a:t>
              </a:r>
            </a:p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contain malware.</a:t>
              </a:r>
              <a:endParaRPr lang="en-US" sz="2000" dirty="0"/>
            </a:p>
          </p:txBody>
        </p:sp>
        <p:pic>
          <p:nvPicPr>
            <p:cNvPr id="58" name="Image 0" descr="preencoded.png">
              <a:extLst>
                <a:ext uri="{FF2B5EF4-FFF2-40B4-BE49-F238E27FC236}">
                  <a16:creationId xmlns:a16="http://schemas.microsoft.com/office/drawing/2014/main" id="{5F93242A-403B-CBFA-6184-066CA57C4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72637" y="1505977"/>
              <a:ext cx="5836651" cy="5836651"/>
            </a:xfrm>
            <a:prstGeom prst="rect">
              <a:avLst/>
            </a:prstGeom>
          </p:spPr>
        </p:pic>
        <p:sp>
          <p:nvSpPr>
            <p:cNvPr id="59" name="Shape 2">
              <a:extLst>
                <a:ext uri="{FF2B5EF4-FFF2-40B4-BE49-F238E27FC236}">
                  <a16:creationId xmlns:a16="http://schemas.microsoft.com/office/drawing/2014/main" id="{1E8A882D-B183-491F-0D8B-E1D5810B8EB4}"/>
                </a:ext>
              </a:extLst>
            </p:cNvPr>
            <p:cNvSpPr/>
            <p:nvPr/>
          </p:nvSpPr>
          <p:spPr>
            <a:xfrm>
              <a:off x="4656098" y="4153537"/>
              <a:ext cx="3800594" cy="22860"/>
            </a:xfrm>
            <a:prstGeom prst="rect">
              <a:avLst/>
            </a:prstGeom>
            <a:solidFill>
              <a:srgbClr val="16FFBB"/>
            </a:solidFill>
            <a:ln/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77C98E81-3C6D-19F4-0837-5615FA458344}"/>
              </a:ext>
            </a:extLst>
          </p:cNvPr>
          <p:cNvGrpSpPr/>
          <p:nvPr/>
        </p:nvGrpSpPr>
        <p:grpSpPr>
          <a:xfrm>
            <a:off x="229672" y="674965"/>
            <a:ext cx="14379616" cy="6667663"/>
            <a:chOff x="229672" y="674965"/>
            <a:chExt cx="14379616" cy="6667663"/>
          </a:xfrm>
        </p:grpSpPr>
        <p:sp>
          <p:nvSpPr>
            <p:cNvPr id="2" name="Text 0"/>
            <p:cNvSpPr/>
            <p:nvPr/>
          </p:nvSpPr>
          <p:spPr>
            <a:xfrm>
              <a:off x="666988" y="674965"/>
              <a:ext cx="7021116" cy="52935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150"/>
                </a:lnSpc>
                <a:buNone/>
              </a:pPr>
              <a:r>
                <a:rPr lang="en-US" sz="4000" b="1" dirty="0">
                  <a:solidFill>
                    <a:srgbClr val="F0FCFF"/>
                  </a:solidFill>
                  <a:ea typeface="Spline Sans Bold" pitchFamily="34" charset="-122"/>
                  <a:cs typeface="Spline Sans Bold" pitchFamily="34" charset="-120"/>
                </a:rPr>
                <a:t>How Users Can Protect Themselves</a:t>
              </a:r>
              <a:endParaRPr lang="en-US" sz="40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229672" y="1704499"/>
              <a:ext cx="190500" cy="2382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Spline Sans Light" pitchFamily="34" charset="-122"/>
                  <a:cs typeface="Spline Sans Light" pitchFamily="34" charset="-120"/>
                </a:rPr>
                <a:t>01</a:t>
              </a:r>
              <a:endParaRPr lang="en-US" sz="20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229672" y="2005608"/>
              <a:ext cx="3800594" cy="22860"/>
            </a:xfrm>
            <a:prstGeom prst="rect">
              <a:avLst/>
            </a:prstGeom>
            <a:solidFill>
              <a:srgbClr val="16FFBB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229672" y="2146578"/>
              <a:ext cx="2229922" cy="2646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4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Use Strong Passwords</a:t>
              </a:r>
              <a:endParaRPr lang="en-US" sz="24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29672" y="2601754"/>
              <a:ext cx="4114568" cy="914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Create unique, complex passwords with mixed characters and enable two-factor authentication wherever possible.</a:t>
              </a:r>
              <a:endParaRPr lang="en-US" sz="2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658082" y="1704499"/>
              <a:ext cx="190500" cy="2382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Spline Sans Light" pitchFamily="34" charset="-122"/>
                  <a:cs typeface="Spline Sans Light" pitchFamily="34" charset="-120"/>
                </a:rPr>
                <a:t>02</a:t>
              </a:r>
              <a:endParaRPr lang="en-US" sz="2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658082" y="2005608"/>
              <a:ext cx="3800713" cy="22860"/>
            </a:xfrm>
            <a:prstGeom prst="rect">
              <a:avLst/>
            </a:prstGeom>
            <a:solidFill>
              <a:srgbClr val="29DDDA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4658082" y="2146578"/>
              <a:ext cx="2221349" cy="2646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4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Keep Devices Updated</a:t>
              </a:r>
              <a:endParaRPr lang="en-US" sz="2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658082" y="2601754"/>
              <a:ext cx="4038657" cy="914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Regularly install software and security updates to patch vulnerabilities and protect against new threats.</a:t>
              </a:r>
              <a:endParaRPr lang="en-US" sz="2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29672" y="3849886"/>
              <a:ext cx="190500" cy="2382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Spline Sans Light" pitchFamily="34" charset="-122"/>
                  <a:cs typeface="Spline Sans Light" pitchFamily="34" charset="-120"/>
                </a:rPr>
                <a:t>03</a:t>
              </a:r>
              <a:endParaRPr lang="en-US" sz="2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29672" y="4150995"/>
              <a:ext cx="3800594" cy="22860"/>
            </a:xfrm>
            <a:prstGeom prst="rect">
              <a:avLst/>
            </a:prstGeom>
            <a:solidFill>
              <a:srgbClr val="37A7E7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229672" y="4291965"/>
              <a:ext cx="2117765" cy="2646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4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Avoid Unknown Apps</a:t>
              </a:r>
              <a:endParaRPr lang="en-US" sz="2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29672" y="4747141"/>
              <a:ext cx="4114568" cy="914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Only download applications from trusted sources and review permissions before installation.</a:t>
              </a:r>
              <a:endParaRPr lang="en-US" sz="2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658082" y="3849886"/>
              <a:ext cx="190500" cy="2382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Spline Sans Light" pitchFamily="34" charset="-122"/>
                  <a:cs typeface="Spline Sans Light" pitchFamily="34" charset="-120"/>
                </a:rPr>
                <a:t>04</a:t>
              </a:r>
              <a:endParaRPr lang="en-US" sz="2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658082" y="4291965"/>
              <a:ext cx="2288381" cy="2646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4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Check Privacy Settings</a:t>
              </a:r>
              <a:endParaRPr lang="en-US" sz="2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658082" y="4747141"/>
              <a:ext cx="4038657" cy="6098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Review and adjust privacy controls on all devices and accounts to limit data sharing.</a:t>
              </a:r>
              <a:endParaRPr lang="en-US" sz="2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29672" y="5995273"/>
              <a:ext cx="190500" cy="2382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Spline Sans Light" pitchFamily="34" charset="-122"/>
                  <a:cs typeface="Spline Sans Light" pitchFamily="34" charset="-120"/>
                </a:rPr>
                <a:t>05</a:t>
              </a:r>
              <a:endParaRPr lang="en-US" sz="2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229672" y="6296382"/>
              <a:ext cx="7791807" cy="22860"/>
            </a:xfrm>
            <a:prstGeom prst="rect">
              <a:avLst/>
            </a:prstGeom>
            <a:solidFill>
              <a:srgbClr val="16FFBB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229672" y="6437352"/>
              <a:ext cx="2117765" cy="2646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400" b="1" dirty="0">
                  <a:solidFill>
                    <a:srgbClr val="E0E4E6"/>
                  </a:solidFill>
                  <a:ea typeface="Spline Sans Bold" pitchFamily="34" charset="-122"/>
                  <a:cs typeface="Spline Sans Bold" pitchFamily="34" charset="-120"/>
                </a:rPr>
                <a:t>Stay Alert Online</a:t>
              </a:r>
              <a:endParaRPr lang="en-US" sz="2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229672" y="6892528"/>
              <a:ext cx="7791807" cy="3049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Never click suspicious links or open unexpected attachments that could </a:t>
              </a:r>
            </a:p>
            <a:p>
              <a:pPr marL="0" indent="0" algn="l">
                <a:lnSpc>
                  <a:spcPts val="2400"/>
                </a:lnSpc>
                <a:buNone/>
              </a:pPr>
              <a:r>
                <a:rPr lang="en-US" sz="2000" dirty="0">
                  <a:solidFill>
                    <a:srgbClr val="E0E4E6"/>
                  </a:solidFill>
                  <a:ea typeface="Barlow" pitchFamily="34" charset="-122"/>
                  <a:cs typeface="Barlow" pitchFamily="34" charset="-120"/>
                </a:rPr>
                <a:t>contain malware.</a:t>
              </a:r>
              <a:endParaRPr lang="en-US" sz="2000" dirty="0"/>
            </a:p>
          </p:txBody>
        </p:sp>
        <p:pic>
          <p:nvPicPr>
            <p:cNvPr id="2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72637" y="1505977"/>
              <a:ext cx="5836651" cy="5836651"/>
            </a:xfrm>
            <a:prstGeom prst="rect">
              <a:avLst/>
            </a:prstGeom>
          </p:spPr>
        </p:pic>
        <p:sp>
          <p:nvSpPr>
            <p:cNvPr id="48" name="Shape 2">
              <a:extLst>
                <a:ext uri="{FF2B5EF4-FFF2-40B4-BE49-F238E27FC236}">
                  <a16:creationId xmlns:a16="http://schemas.microsoft.com/office/drawing/2014/main" id="{1A73B490-F397-21CF-28BC-A711382583A5}"/>
                </a:ext>
              </a:extLst>
            </p:cNvPr>
            <p:cNvSpPr/>
            <p:nvPr/>
          </p:nvSpPr>
          <p:spPr>
            <a:xfrm>
              <a:off x="4656098" y="4153537"/>
              <a:ext cx="3800594" cy="22860"/>
            </a:xfrm>
            <a:prstGeom prst="rect">
              <a:avLst/>
            </a:prstGeom>
            <a:solidFill>
              <a:srgbClr val="16FFBB"/>
            </a:solidFill>
            <a:ln/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678186"/>
            <a:ext cx="703504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Conclusion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857738"/>
            <a:ext cx="4136231" cy="2625804"/>
          </a:xfrm>
          <a:prstGeom prst="roundRect">
            <a:avLst>
              <a:gd name="adj" fmla="val 14104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333" y="3135035"/>
            <a:ext cx="335363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Revolutionary Technology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1332" y="3546536"/>
            <a:ext cx="3828455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6G will bring transformative capabilities that reshape how we communicate, work, and live in an interconnected world.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247084" y="2857738"/>
            <a:ext cx="4136231" cy="2625804"/>
          </a:xfrm>
          <a:prstGeom prst="roundRect">
            <a:avLst>
              <a:gd name="adj" fmla="val 14104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381" y="313503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Security is Essential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524380" y="3546536"/>
            <a:ext cx="3828455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Strong cybersecurity measures are not optional—they're fundamental to realizing 6G's full potential safely.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30132" y="2857738"/>
            <a:ext cx="4136231" cy="2625804"/>
          </a:xfrm>
          <a:prstGeom prst="roundRect">
            <a:avLst>
              <a:gd name="adj" fmla="val 14104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7429" y="3135035"/>
            <a:ext cx="318658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Protecting What Matters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07429" y="3546536"/>
            <a:ext cx="3858934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Safe networks safeguard users, data, privacy, and the critical infrastructure our society depends on daily.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4037" y="5761196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b="1" dirty="0">
                <a:solidFill>
                  <a:srgbClr val="16FFBB"/>
                </a:solidFill>
                <a:ea typeface="Barlow" pitchFamily="34" charset="-122"/>
                <a:cs typeface="Barlow" pitchFamily="34" charset="-120"/>
              </a:rPr>
              <a:t>We must prepare today for the cyber threats of tomorrow.</a:t>
            </a:r>
            <a:r>
              <a:rPr lang="en-US" sz="24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 The future of 6G depends on our collective commitment to building secure, trustworthy networks that serve everyone safely.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41D6BA-3538-7122-59E6-A6D1466796C8}"/>
              </a:ext>
            </a:extLst>
          </p:cNvPr>
          <p:cNvSpPr/>
          <p:nvPr/>
        </p:nvSpPr>
        <p:spPr>
          <a:xfrm>
            <a:off x="1670839" y="2535792"/>
            <a:ext cx="12104795" cy="282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Thankyou Everyone</a:t>
            </a:r>
          </a:p>
          <a:p>
            <a:pPr marL="0" indent="0" algn="ctr">
              <a:buNone/>
            </a:pPr>
            <a:r>
              <a:rPr lang="en-US" sz="8000" b="1" dirty="0">
                <a:solidFill>
                  <a:srgbClr val="F0FCFF"/>
                </a:solidFill>
                <a:ea typeface="Spline Sans Bold" pitchFamily="34" charset="-122"/>
              </a:rPr>
              <a:t>For your attention</a:t>
            </a:r>
            <a:endParaRPr lang="en-US" sz="8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72BBFE6-D62A-825A-0F47-BBC85000B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00" y="3947596"/>
            <a:ext cx="5308600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263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</TotalTime>
  <Words>1245</Words>
  <Application>Microsoft Office PowerPoint</Application>
  <PresentationFormat>Custom</PresentationFormat>
  <Paragraphs>172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Spline Sans Bold</vt:lpstr>
      <vt:lpstr>Arial</vt:lpstr>
      <vt:lpstr>Barlow</vt:lpstr>
      <vt:lpstr>Calibri Light</vt:lpstr>
      <vt:lpstr>Spline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Adnan Khan</dc:creator>
  <cp:lastModifiedBy>Adnan Khan</cp:lastModifiedBy>
  <cp:revision>69</cp:revision>
  <dcterms:created xsi:type="dcterms:W3CDTF">2025-11-13T15:37:48Z</dcterms:created>
  <dcterms:modified xsi:type="dcterms:W3CDTF">2025-11-19T14:14:18Z</dcterms:modified>
</cp:coreProperties>
</file>