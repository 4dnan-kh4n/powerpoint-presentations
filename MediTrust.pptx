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2" r:id="rId2"/>
    <p:sldId id="257" r:id="rId3"/>
    <p:sldId id="258" r:id="rId4"/>
    <p:sldId id="259" r:id="rId5"/>
    <p:sldId id="260" r:id="rId6"/>
    <p:sldId id="263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C3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8326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4dnan-kh4n.github.io/meditTrust-Demo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31802F7-4DC3-032E-4B35-3FD55192DBFE}"/>
              </a:ext>
            </a:extLst>
          </p:cNvPr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3C2CBCA-9320-AF9D-5176-8883DE273F09}"/>
              </a:ext>
            </a:extLst>
          </p:cNvPr>
          <p:cNvSpPr/>
          <p:nvPr/>
        </p:nvSpPr>
        <p:spPr>
          <a:xfrm>
            <a:off x="-1512570" y="4531995"/>
            <a:ext cx="4023360" cy="4023360"/>
          </a:xfrm>
          <a:prstGeom prst="ellipse">
            <a:avLst/>
          </a:prstGeom>
          <a:solidFill>
            <a:srgbClr val="00A896">
              <a:alpha val="18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E8EF1C4-3DDD-13F0-5C05-50C3895E6AE8}"/>
              </a:ext>
            </a:extLst>
          </p:cNvPr>
          <p:cNvSpPr txBox="1"/>
          <p:nvPr/>
        </p:nvSpPr>
        <p:spPr>
          <a:xfrm>
            <a:off x="5044440" y="399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NEXHACK 2.0</a:t>
            </a:r>
            <a:endParaRPr lang="en-US" sz="2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DD31329-6EFB-15CA-9F92-D43B6C766F59}"/>
              </a:ext>
            </a:extLst>
          </p:cNvPr>
          <p:cNvSpPr txBox="1"/>
          <p:nvPr/>
        </p:nvSpPr>
        <p:spPr>
          <a:xfrm>
            <a:off x="3756429" y="500603"/>
            <a:ext cx="502181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mediTrust</a:t>
            </a:r>
            <a:endParaRPr lang="en-US" sz="66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DBA8AAA-7301-2F5D-476C-DABED5854EE0}"/>
              </a:ext>
            </a:extLst>
          </p:cNvPr>
          <p:cNvSpPr txBox="1"/>
          <p:nvPr/>
        </p:nvSpPr>
        <p:spPr>
          <a:xfrm>
            <a:off x="1238700" y="1535097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Trusted Healthcare Navigation, Wherever You Are.</a:t>
            </a:r>
            <a:endParaRPr lang="en-US" sz="2200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BAF96B3-32AD-7CDC-04FD-27F63AA342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8071964"/>
              </p:ext>
            </p:extLst>
          </p:nvPr>
        </p:nvGraphicFramePr>
        <p:xfrm>
          <a:off x="3500726" y="2233919"/>
          <a:ext cx="4948706" cy="79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4353">
                  <a:extLst>
                    <a:ext uri="{9D8B030D-6E8A-4147-A177-3AD203B41FA5}">
                      <a16:colId xmlns:a16="http://schemas.microsoft.com/office/drawing/2014/main" val="2719139277"/>
                    </a:ext>
                  </a:extLst>
                </a:gridCol>
                <a:gridCol w="2474353">
                  <a:extLst>
                    <a:ext uri="{9D8B030D-6E8A-4147-A177-3AD203B41FA5}">
                      <a16:colId xmlns:a16="http://schemas.microsoft.com/office/drawing/2014/main" val="42555009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User</a:t>
                      </a:r>
                      <a:endParaRPr lang="en-IN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2C3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chemeClr val="tx1"/>
                          </a:solidFill>
                        </a:rPr>
                        <a:t>mediTrust</a:t>
                      </a:r>
                      <a:endParaRPr lang="en-IN" sz="2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2C39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1595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i="1" dirty="0"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need medical help..</a:t>
                      </a:r>
                      <a:endParaRPr lang="en-IN" sz="20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know where to go.</a:t>
                      </a:r>
                      <a:endParaRPr lang="en-IN" sz="20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9080076"/>
                  </a:ext>
                </a:extLst>
              </a:tr>
            </a:tbl>
          </a:graphicData>
        </a:graphic>
      </p:graphicFrame>
      <p:sp>
        <p:nvSpPr>
          <p:cNvPr id="13" name="Shape 8">
            <a:extLst>
              <a:ext uri="{FF2B5EF4-FFF2-40B4-BE49-F238E27FC236}">
                <a16:creationId xmlns:a16="http://schemas.microsoft.com/office/drawing/2014/main" id="{29FDB551-647C-3634-A37F-9653BF6A334F}"/>
              </a:ext>
            </a:extLst>
          </p:cNvPr>
          <p:cNvSpPr/>
          <p:nvPr/>
        </p:nvSpPr>
        <p:spPr>
          <a:xfrm>
            <a:off x="3726180" y="4280136"/>
            <a:ext cx="4511040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B350EDEE-DCF8-60BF-C1B5-E002672E3013}"/>
              </a:ext>
            </a:extLst>
          </p:cNvPr>
          <p:cNvSpPr txBox="1"/>
          <p:nvPr/>
        </p:nvSpPr>
        <p:spPr>
          <a:xfrm>
            <a:off x="1382531" y="3127925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Team Name: </a:t>
            </a:r>
            <a:r>
              <a:rPr lang="en-US" sz="22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Hack Horizon 2.0</a:t>
            </a:r>
            <a:endParaRPr lang="en-US" sz="2200" b="1" dirty="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A2FD262D-B76F-DE9A-B26E-35738719852E}"/>
              </a:ext>
            </a:extLst>
          </p:cNvPr>
          <p:cNvSpPr txBox="1"/>
          <p:nvPr/>
        </p:nvSpPr>
        <p:spPr>
          <a:xfrm>
            <a:off x="1382531" y="3543191"/>
            <a:ext cx="9144000" cy="5486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Solution on: </a:t>
            </a:r>
            <a:r>
              <a:rPr lang="en-IN" sz="22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&amp; Life Sciences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5F52BE1-B25F-1D8B-C615-5F8D6F7A41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66" y="500478"/>
            <a:ext cx="431222" cy="247983"/>
          </a:xfrm>
          <a:prstGeom prst="rect">
            <a:avLst/>
          </a:prstGeom>
        </p:spPr>
      </p:pic>
      <p:sp>
        <p:nvSpPr>
          <p:cNvPr id="22" name="Text 6">
            <a:extLst>
              <a:ext uri="{FF2B5EF4-FFF2-40B4-BE49-F238E27FC236}">
                <a16:creationId xmlns:a16="http://schemas.microsoft.com/office/drawing/2014/main" id="{FFE59B4B-60F6-6FBA-19A2-549550991CBA}"/>
              </a:ext>
            </a:extLst>
          </p:cNvPr>
          <p:cNvSpPr txBox="1"/>
          <p:nvPr/>
        </p:nvSpPr>
        <p:spPr>
          <a:xfrm>
            <a:off x="4579586" y="4728453"/>
            <a:ext cx="3784662" cy="16929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Adnan Khan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Tushar Soni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Shranshikha</a:t>
            </a:r>
            <a:r>
              <a:rPr lang="en-US" sz="2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2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Somkuwar</a:t>
            </a:r>
            <a:endParaRPr lang="en-US" sz="22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Tanushree Patwa</a:t>
            </a:r>
            <a:endParaRPr lang="en-IN" sz="22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99F902-EAE4-B7A0-79B0-72B20E8BA5CA}"/>
              </a:ext>
            </a:extLst>
          </p:cNvPr>
          <p:cNvSpPr txBox="1"/>
          <p:nvPr/>
        </p:nvSpPr>
        <p:spPr>
          <a:xfrm>
            <a:off x="4770120" y="4415433"/>
            <a:ext cx="758952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Members-</a:t>
            </a:r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BEEFFC3-53EA-772B-C9B9-9FE0C1B759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4880" y="1836776"/>
            <a:ext cx="3257813" cy="488672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C127C30-EEE0-A74C-E23E-29E72A5151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99081" y="-12595"/>
            <a:ext cx="1480181" cy="80677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C696F05-5C95-31D7-1D4B-3CFD13CBB2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376" y="2042636"/>
            <a:ext cx="2949214" cy="4423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4081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Healthcare search has an information &amp; navigation problem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5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you're in a new city and suddenly need medical help. You search: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12064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blurRad="76200" dist="25400" dir="5400000" algn="bl" rotWithShape="0">
              <a:srgbClr val="1A2B2B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868680" y="233172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“Best doctor near me”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004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...but the results rarely answer what actually matters: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611880"/>
            <a:ext cx="292608" cy="292608"/>
          </a:xfrm>
          <a:prstGeom prst="rect">
            <a:avLst/>
          </a:prstGeom>
          <a:solidFill>
            <a:srgbClr val="C1440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58444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doctor actually available today?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032504"/>
            <a:ext cx="292608" cy="292608"/>
          </a:xfrm>
          <a:prstGeom prst="rect">
            <a:avLst/>
          </a:prstGeom>
          <a:solidFill>
            <a:srgbClr val="C1440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400507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clinic address / phone still correct?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453128"/>
            <a:ext cx="292608" cy="292608"/>
          </a:xfrm>
          <a:prstGeom prst="rect">
            <a:avLst/>
          </a:prstGeom>
          <a:solidFill>
            <a:srgbClr val="C1440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442569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Walk-ins accepted, or appointment only?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873752"/>
            <a:ext cx="292608" cy="292608"/>
          </a:xfrm>
          <a:prstGeom prst="rect">
            <a:avLst/>
          </a:prstGeom>
          <a:solidFill>
            <a:srgbClr val="C1440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84632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consultation fee up to date?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294376"/>
            <a:ext cx="292608" cy="292608"/>
          </a:xfrm>
          <a:prstGeom prst="rect">
            <a:avLst/>
          </a:prstGeom>
          <a:solidFill>
            <a:srgbClr val="C1440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526694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specialist do I even need?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72200" y="1691640"/>
            <a:ext cx="5667292" cy="2331720"/>
          </a:xfrm>
          <a:prstGeom prst="roundRect">
            <a:avLst>
              <a:gd name="adj" fmla="val 4706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6492240" y="18745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JOURNEY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92240" y="2331720"/>
            <a:ext cx="749808" cy="777240"/>
          </a:xfrm>
          <a:prstGeom prst="roundRect">
            <a:avLst>
              <a:gd name="adj" fmla="val 9756"/>
            </a:avLst>
          </a:prstGeom>
          <a:solidFill>
            <a:srgbClr val="173A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6519672" y="2331720"/>
            <a:ext cx="694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7242048" y="2331720"/>
            <a:ext cx="1325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74636" y="2331720"/>
            <a:ext cx="749808" cy="777240"/>
          </a:xfrm>
          <a:prstGeom prst="roundRect">
            <a:avLst>
              <a:gd name="adj" fmla="val 9756"/>
            </a:avLst>
          </a:prstGeom>
          <a:solidFill>
            <a:srgbClr val="173A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 txBox="1"/>
          <p:nvPr/>
        </p:nvSpPr>
        <p:spPr>
          <a:xfrm>
            <a:off x="7402068" y="2331720"/>
            <a:ext cx="694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124444" y="2331720"/>
            <a:ext cx="1325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257032" y="2331720"/>
            <a:ext cx="749808" cy="777240"/>
          </a:xfrm>
          <a:prstGeom prst="roundRect">
            <a:avLst>
              <a:gd name="adj" fmla="val 9756"/>
            </a:avLst>
          </a:prstGeom>
          <a:solidFill>
            <a:srgbClr val="173A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8284464" y="2331720"/>
            <a:ext cx="694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9006840" y="2331720"/>
            <a:ext cx="1325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139428" y="2331720"/>
            <a:ext cx="749808" cy="777240"/>
          </a:xfrm>
          <a:prstGeom prst="roundRect">
            <a:avLst>
              <a:gd name="adj" fmla="val 9756"/>
            </a:avLst>
          </a:prstGeom>
          <a:solidFill>
            <a:srgbClr val="C1440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9166860" y="2331720"/>
            <a:ext cx="694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Outdated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9889236" y="2331720"/>
            <a:ext cx="1325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0021824" y="2331720"/>
            <a:ext cx="749808" cy="777240"/>
          </a:xfrm>
          <a:prstGeom prst="roundRect">
            <a:avLst>
              <a:gd name="adj" fmla="val 9756"/>
            </a:avLst>
          </a:prstGeom>
          <a:solidFill>
            <a:srgbClr val="173A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 txBox="1"/>
          <p:nvPr/>
        </p:nvSpPr>
        <p:spPr>
          <a:xfrm>
            <a:off x="10049256" y="2331720"/>
            <a:ext cx="694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10771632" y="2331720"/>
            <a:ext cx="1325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0904220" y="2331720"/>
            <a:ext cx="749808" cy="777240"/>
          </a:xfrm>
          <a:prstGeom prst="roundRect">
            <a:avLst>
              <a:gd name="adj" fmla="val 9756"/>
            </a:avLst>
          </a:prstGeom>
          <a:solidFill>
            <a:srgbClr val="173A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 txBox="1"/>
          <p:nvPr/>
        </p:nvSpPr>
        <p:spPr>
          <a:xfrm>
            <a:off x="10931652" y="2331720"/>
            <a:ext cx="694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6492240" y="333756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uncertainty, wasted trips, and a search that never really ends.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172200" y="4206240"/>
            <a:ext cx="5667292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 txBox="1"/>
          <p:nvPr/>
        </p:nvSpPr>
        <p:spPr>
          <a:xfrm>
            <a:off x="6446520" y="43708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FEELS THIS MOST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46520" y="4736592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 txBox="1"/>
          <p:nvPr/>
        </p:nvSpPr>
        <p:spPr>
          <a:xfrm>
            <a:off x="6446520" y="4736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42" name="Text 40"/>
          <p:cNvSpPr txBox="1"/>
          <p:nvPr/>
        </p:nvSpPr>
        <p:spPr>
          <a:xfrm>
            <a:off x="6922008" y="463879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in unfamiliar cities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9052560" y="4736592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 txBox="1"/>
          <p:nvPr/>
        </p:nvSpPr>
        <p:spPr>
          <a:xfrm>
            <a:off x="9052560" y="4736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45" name="Text 43"/>
          <p:cNvSpPr txBox="1"/>
          <p:nvPr/>
        </p:nvSpPr>
        <p:spPr>
          <a:xfrm>
            <a:off x="9528048" y="4638792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Travellers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446520" y="5449824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 txBox="1"/>
          <p:nvPr/>
        </p:nvSpPr>
        <p:spPr>
          <a:xfrm>
            <a:off x="6446520" y="5449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48" name="Text 46"/>
          <p:cNvSpPr txBox="1"/>
          <p:nvPr/>
        </p:nvSpPr>
        <p:spPr>
          <a:xfrm>
            <a:off x="6922008" y="5352024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seeking care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9052560" y="5449824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 txBox="1"/>
          <p:nvPr/>
        </p:nvSpPr>
        <p:spPr>
          <a:xfrm>
            <a:off x="9052560" y="5449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51" name="Text 49"/>
          <p:cNvSpPr txBox="1"/>
          <p:nvPr/>
        </p:nvSpPr>
        <p:spPr>
          <a:xfrm>
            <a:off x="9528048" y="5352024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 patients &amp; caregivers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640080" y="6035040"/>
            <a:ext cx="10927080" cy="548640"/>
          </a:xfrm>
          <a:prstGeom prst="roundRect">
            <a:avLst>
              <a:gd name="adj" fmla="val 13333"/>
            </a:avLst>
          </a:prstGeom>
          <a:solidFill>
            <a:srgbClr val="E6F4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 txBox="1"/>
          <p:nvPr/>
        </p:nvSpPr>
        <p:spPr>
          <a:xfrm>
            <a:off x="868680" y="60350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problem:  </a:t>
            </a:r>
            <a:r>
              <a:rPr lang="en-US" sz="13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don't just need a list of doctors — they need trustworthy, up-to-date, and actionable healthcare information.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Introducing mediTrust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984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healthcare navigation platform — two ways to start.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2578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blurRad="101600" dist="25400" dir="5400000" algn="bl" rotWithShape="0">
              <a:srgbClr val="1A2B2B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14400" y="1874520"/>
            <a:ext cx="402336" cy="402336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914400" y="1874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26464" y="187452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know which specialist I need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2468880"/>
            <a:ext cx="987552" cy="438912"/>
          </a:xfrm>
          <a:prstGeom prst="roundRect">
            <a:avLst>
              <a:gd name="adj" fmla="val 12500"/>
            </a:avLst>
          </a:prstGeom>
          <a:solidFill>
            <a:srgbClr val="E6F4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914400" y="2468880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901952" y="2468880"/>
            <a:ext cx="219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121408" y="2468880"/>
            <a:ext cx="987552" cy="438912"/>
          </a:xfrm>
          <a:prstGeom prst="roundRect">
            <a:avLst>
              <a:gd name="adj" fmla="val 12500"/>
            </a:avLst>
          </a:prstGeom>
          <a:solidFill>
            <a:srgbClr val="E6F4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 txBox="1"/>
          <p:nvPr/>
        </p:nvSpPr>
        <p:spPr>
          <a:xfrm>
            <a:off x="2121408" y="2468880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108960" y="2468880"/>
            <a:ext cx="219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328416" y="2468880"/>
            <a:ext cx="987552" cy="438912"/>
          </a:xfrm>
          <a:prstGeom prst="roundRect">
            <a:avLst>
              <a:gd name="adj" fmla="val 12500"/>
            </a:avLst>
          </a:prstGeom>
          <a:solidFill>
            <a:srgbClr val="E6F4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 txBox="1"/>
          <p:nvPr/>
        </p:nvSpPr>
        <p:spPr>
          <a:xfrm>
            <a:off x="3328416" y="2468880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Speciality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315968" y="2468880"/>
            <a:ext cx="219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35424" y="2468880"/>
            <a:ext cx="987552" cy="438912"/>
          </a:xfrm>
          <a:prstGeom prst="roundRect">
            <a:avLst>
              <a:gd name="adj" fmla="val 12500"/>
            </a:avLst>
          </a:prstGeom>
          <a:solidFill>
            <a:srgbClr val="E6F4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 txBox="1"/>
          <p:nvPr/>
        </p:nvSpPr>
        <p:spPr>
          <a:xfrm>
            <a:off x="4535424" y="2468880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2999232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direct path for people who already know what they want.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1691640"/>
            <a:ext cx="5257800" cy="1600200"/>
          </a:xfrm>
          <a:prstGeom prst="roundRect">
            <a:avLst>
              <a:gd name="adj" fmla="val 6857"/>
            </a:avLst>
          </a:prstGeom>
          <a:solidFill>
            <a:srgbClr val="0B2545"/>
          </a:solidFill>
          <a:ln/>
          <a:effectLst>
            <a:outerShdw blurRad="101600" dist="25400" dir="5400000" algn="bl" rotWithShape="0">
              <a:srgbClr val="1A2B2B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537960" y="1874520"/>
            <a:ext cx="402336" cy="402336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6537960" y="1874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050024" y="1874520"/>
            <a:ext cx="4297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don't know which specialist I need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537960" y="2468880"/>
            <a:ext cx="987552" cy="438912"/>
          </a:xfrm>
          <a:prstGeom prst="roundRect">
            <a:avLst>
              <a:gd name="adj" fmla="val 12500"/>
            </a:avLst>
          </a:prstGeom>
          <a:solidFill>
            <a:srgbClr val="173A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6537960" y="2468880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7525512" y="2468880"/>
            <a:ext cx="219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744968" y="2468880"/>
            <a:ext cx="987552" cy="438912"/>
          </a:xfrm>
          <a:prstGeom prst="roundRect">
            <a:avLst>
              <a:gd name="adj" fmla="val 12500"/>
            </a:avLst>
          </a:prstGeom>
          <a:solidFill>
            <a:srgbClr val="173A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7744968" y="2468880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CarePath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8732520" y="2468880"/>
            <a:ext cx="219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951976" y="2468880"/>
            <a:ext cx="987552" cy="438912"/>
          </a:xfrm>
          <a:prstGeom prst="roundRect">
            <a:avLst>
              <a:gd name="adj" fmla="val 12500"/>
            </a:avLst>
          </a:prstGeom>
          <a:solidFill>
            <a:srgbClr val="173A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8951976" y="2468880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Speciality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9939528" y="2468880"/>
            <a:ext cx="2194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0158984" y="2468880"/>
            <a:ext cx="987552" cy="438912"/>
          </a:xfrm>
          <a:prstGeom prst="roundRect">
            <a:avLst>
              <a:gd name="adj" fmla="val 12500"/>
            </a:avLst>
          </a:prstGeom>
          <a:solidFill>
            <a:srgbClr val="173A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 txBox="1"/>
          <p:nvPr/>
        </p:nvSpPr>
        <p:spPr>
          <a:xfrm>
            <a:off x="10158984" y="2468880"/>
            <a:ext cx="987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6537960" y="299923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 the symptom and recommends a speciality — with reasoning.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3520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MEDITRUST JOURNEY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0080" y="3886200"/>
            <a:ext cx="1691640" cy="868680"/>
          </a:xfrm>
          <a:prstGeom prst="roundRect">
            <a:avLst>
              <a:gd name="adj" fmla="val 10526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 txBox="1"/>
          <p:nvPr/>
        </p:nvSpPr>
        <p:spPr>
          <a:xfrm>
            <a:off x="749808" y="394106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731520" y="42519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2331720" y="3886200"/>
            <a:ext cx="1234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2455164" y="3886200"/>
            <a:ext cx="1691640" cy="868680"/>
          </a:xfrm>
          <a:prstGeom prst="roundRect">
            <a:avLst>
              <a:gd name="adj" fmla="val 10526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 txBox="1"/>
          <p:nvPr/>
        </p:nvSpPr>
        <p:spPr>
          <a:xfrm>
            <a:off x="2564892" y="394106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2546604" y="42519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Guidance</a:t>
            </a:r>
            <a:endParaRPr lang="en-US" sz="1050" dirty="0"/>
          </a:p>
        </p:txBody>
      </p:sp>
      <p:sp>
        <p:nvSpPr>
          <p:cNvPr id="45" name="Text 43"/>
          <p:cNvSpPr txBox="1"/>
          <p:nvPr/>
        </p:nvSpPr>
        <p:spPr>
          <a:xfrm>
            <a:off x="4146804" y="3886200"/>
            <a:ext cx="1234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4270248" y="3886200"/>
            <a:ext cx="1691640" cy="868680"/>
          </a:xfrm>
          <a:prstGeom prst="roundRect">
            <a:avLst>
              <a:gd name="adj" fmla="val 10526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 txBox="1"/>
          <p:nvPr/>
        </p:nvSpPr>
        <p:spPr>
          <a:xfrm>
            <a:off x="4379976" y="394106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4361688" y="42519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050" dirty="0"/>
          </a:p>
        </p:txBody>
      </p:sp>
      <p:sp>
        <p:nvSpPr>
          <p:cNvPr id="49" name="Text 47"/>
          <p:cNvSpPr txBox="1"/>
          <p:nvPr/>
        </p:nvSpPr>
        <p:spPr>
          <a:xfrm>
            <a:off x="5961888" y="3886200"/>
            <a:ext cx="1234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085332" y="3886200"/>
            <a:ext cx="1691640" cy="868680"/>
          </a:xfrm>
          <a:prstGeom prst="roundRect">
            <a:avLst>
              <a:gd name="adj" fmla="val 10526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 txBox="1"/>
          <p:nvPr/>
        </p:nvSpPr>
        <p:spPr>
          <a:xfrm>
            <a:off x="6195060" y="394106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6176772" y="42519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7776972" y="3886200"/>
            <a:ext cx="1234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7900416" y="3886200"/>
            <a:ext cx="1691640" cy="868680"/>
          </a:xfrm>
          <a:prstGeom prst="roundRect">
            <a:avLst>
              <a:gd name="adj" fmla="val 10526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 txBox="1"/>
          <p:nvPr/>
        </p:nvSpPr>
        <p:spPr>
          <a:xfrm>
            <a:off x="8010144" y="394106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7991856" y="42519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</a:t>
            </a:r>
            <a:endParaRPr lang="en-US" sz="1050" dirty="0"/>
          </a:p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050" dirty="0"/>
          </a:p>
        </p:txBody>
      </p:sp>
      <p:sp>
        <p:nvSpPr>
          <p:cNvPr id="57" name="Text 55"/>
          <p:cNvSpPr txBox="1"/>
          <p:nvPr/>
        </p:nvSpPr>
        <p:spPr>
          <a:xfrm>
            <a:off x="9592056" y="3886200"/>
            <a:ext cx="1234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9715500" y="3886200"/>
            <a:ext cx="1691640" cy="868680"/>
          </a:xfrm>
          <a:prstGeom prst="roundRect">
            <a:avLst>
              <a:gd name="adj" fmla="val 10526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 txBox="1"/>
          <p:nvPr/>
        </p:nvSpPr>
        <p:spPr>
          <a:xfrm>
            <a:off x="9825228" y="394106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60" name="Text 58"/>
          <p:cNvSpPr txBox="1"/>
          <p:nvPr/>
        </p:nvSpPr>
        <p:spPr>
          <a:xfrm>
            <a:off x="9806940" y="425196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/ Directions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640080" y="4937760"/>
            <a:ext cx="10881360" cy="1143000"/>
          </a:xfrm>
          <a:prstGeom prst="roundRect">
            <a:avLst>
              <a:gd name="adj" fmla="val 9600"/>
            </a:avLst>
          </a:prstGeom>
          <a:solidFill>
            <a:srgbClr val="E6F4F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 txBox="1"/>
          <p:nvPr/>
        </p:nvSpPr>
        <p:spPr>
          <a:xfrm>
            <a:off x="914400" y="505663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CAREPATH — EXAMPLE</a:t>
            </a:r>
            <a:endParaRPr lang="en-US" sz="1050" dirty="0"/>
          </a:p>
        </p:txBody>
      </p:sp>
      <p:sp>
        <p:nvSpPr>
          <p:cNvPr id="63" name="Text 61"/>
          <p:cNvSpPr txBox="1"/>
          <p:nvPr/>
        </p:nvSpPr>
        <p:spPr>
          <a:xfrm>
            <a:off x="914400" y="533095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“I've been having persistent stomach problems.”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5943600" y="5074920"/>
            <a:ext cx="0" cy="868680"/>
          </a:xfrm>
          <a:prstGeom prst="line">
            <a:avLst/>
          </a:prstGeom>
          <a:noFill/>
          <a:ln w="19050">
            <a:solidFill>
              <a:srgbClr val="BFDA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6144768" y="5257800"/>
            <a:ext cx="402336" cy="402336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 txBox="1"/>
          <p:nvPr/>
        </p:nvSpPr>
        <p:spPr>
          <a:xfrm>
            <a:off x="6144768" y="5257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100" dirty="0"/>
          </a:p>
        </p:txBody>
      </p:sp>
      <p:sp>
        <p:nvSpPr>
          <p:cNvPr id="67" name="Text 65"/>
          <p:cNvSpPr txBox="1"/>
          <p:nvPr/>
        </p:nvSpPr>
        <p:spPr>
          <a:xfrm>
            <a:off x="6675120" y="51937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Suggests: </a:t>
            </a: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Gastroenterologist</a:t>
            </a:r>
            <a:endParaRPr lang="en-US" sz="1400" dirty="0"/>
          </a:p>
        </p:txBody>
      </p:sp>
      <p:sp>
        <p:nvSpPr>
          <p:cNvPr id="68" name="Text 66"/>
          <p:cNvSpPr txBox="1"/>
          <p:nvPr/>
        </p:nvSpPr>
        <p:spPr>
          <a:xfrm>
            <a:off x="6675120" y="55046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short explanation and alternatives when appropriate.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MEDITRUST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another doctor directory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984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</a:t>
            </a:r>
            <a:r>
              <a:rPr lang="en-US" sz="1800" dirty="0">
                <a:solidFill>
                  <a:srgbClr val="5B75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+  </a:t>
            </a:r>
            <a:r>
              <a:rPr lang="en-US" sz="1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Freshness</a:t>
            </a:r>
            <a:r>
              <a:rPr lang="en-US" sz="1800" dirty="0">
                <a:solidFill>
                  <a:srgbClr val="5B758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+  </a:t>
            </a: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Navigation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4290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blurRad="76200" dist="25400" dir="5400000" algn="bl" rotWithShape="0">
              <a:srgbClr val="1A2B2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22960" y="1947672"/>
            <a:ext cx="420624" cy="420624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822960" y="1947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01058" y="19977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Confidence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35915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fresh is each detail, and when was it verified?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0" y="1783080"/>
            <a:ext cx="34290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blurRad="76200" dist="25400" dir="5400000" algn="bl" rotWithShape="0">
              <a:srgbClr val="1A2B2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480560" y="1947672"/>
            <a:ext cx="420624" cy="420624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4480560" y="1947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958658" y="19977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I Visit Now?”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235915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real-time timing, walk-ins, distance.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955280" y="1783080"/>
            <a:ext cx="34290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blurRad="76200" dist="25400" dir="5400000" algn="bl" rotWithShape="0">
              <a:srgbClr val="1A2B2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138160" y="1947672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8138160" y="1947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616258" y="199774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Results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138160" y="235915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reasons — never a mystery ranking.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2971800"/>
            <a:ext cx="5257800" cy="3063240"/>
          </a:xfrm>
          <a:prstGeom prst="roundRect">
            <a:avLst>
              <a:gd name="adj" fmla="val 4179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blurRad="101600" dist="25400" dir="5400000" algn="bl" rotWithShape="0">
              <a:srgbClr val="1A2B2B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 txBox="1"/>
          <p:nvPr/>
        </p:nvSpPr>
        <p:spPr>
          <a:xfrm>
            <a:off x="914400" y="313639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CONFIDENCE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14400" y="3429000"/>
            <a:ext cx="1325880" cy="347472"/>
          </a:xfrm>
          <a:prstGeom prst="roundRect">
            <a:avLst>
              <a:gd name="adj" fmla="val 50000"/>
            </a:avLst>
          </a:prstGeom>
          <a:solidFill>
            <a:srgbClr val="D6F2E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914400" y="342900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8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39319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8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298448" y="3931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identity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246120" y="39319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14400" y="433425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8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298448" y="433425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address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3246120" y="433425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3 days ago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914400" y="473659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8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298448" y="47365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timing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3246120" y="473659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today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14400" y="513892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298448" y="51389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 fee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3246120" y="513892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checked 30 days ago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914400" y="55321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see exactly how fresh the information actually is — no more guessing.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63640" y="2971800"/>
            <a:ext cx="5257800" cy="1463040"/>
          </a:xfrm>
          <a:prstGeom prst="roundRect">
            <a:avLst>
              <a:gd name="adj" fmla="val 8750"/>
            </a:avLst>
          </a:prstGeom>
          <a:solidFill>
            <a:srgbClr val="0B2545"/>
          </a:solidFill>
          <a:ln/>
          <a:effectLst>
            <a:outerShdw blurRad="101600" dist="25400" dir="5400000" algn="bl" rotWithShape="0">
              <a:srgbClr val="1A2B2B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 txBox="1"/>
          <p:nvPr/>
        </p:nvSpPr>
        <p:spPr>
          <a:xfrm>
            <a:off x="6537960" y="31089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VISIT RIGHT NOW?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6537960" y="3337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Sharma — Dermatologist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537960" y="3749040"/>
            <a:ext cx="656539" cy="329184"/>
          </a:xfrm>
          <a:prstGeom prst="roundRect">
            <a:avLst>
              <a:gd name="adj" fmla="val 50000"/>
            </a:avLst>
          </a:prstGeom>
          <a:solidFill>
            <a:srgbClr val="173A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 txBox="1"/>
          <p:nvPr/>
        </p:nvSpPr>
        <p:spPr>
          <a:xfrm>
            <a:off x="6537960" y="3749040"/>
            <a:ext cx="6565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km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304227" y="3749040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173A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 txBox="1"/>
          <p:nvPr/>
        </p:nvSpPr>
        <p:spPr>
          <a:xfrm>
            <a:off x="7304227" y="374904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today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374075" y="3749040"/>
            <a:ext cx="1036015" cy="329184"/>
          </a:xfrm>
          <a:prstGeom prst="roundRect">
            <a:avLst>
              <a:gd name="adj" fmla="val 50000"/>
            </a:avLst>
          </a:prstGeom>
          <a:solidFill>
            <a:srgbClr val="173A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 txBox="1"/>
          <p:nvPr/>
        </p:nvSpPr>
        <p:spPr>
          <a:xfrm>
            <a:off x="8374075" y="3749040"/>
            <a:ext cx="10360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Walk-ins ok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9519818" y="3749040"/>
            <a:ext cx="1263701" cy="329184"/>
          </a:xfrm>
          <a:prstGeom prst="roundRect">
            <a:avLst>
              <a:gd name="adj" fmla="val 50000"/>
            </a:avLst>
          </a:prstGeom>
          <a:solidFill>
            <a:srgbClr val="173A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 txBox="1"/>
          <p:nvPr/>
        </p:nvSpPr>
        <p:spPr>
          <a:xfrm>
            <a:off x="9519818" y="3749040"/>
            <a:ext cx="126370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today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263640" y="4572000"/>
            <a:ext cx="525780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 txBox="1"/>
          <p:nvPr/>
        </p:nvSpPr>
        <p:spPr>
          <a:xfrm>
            <a:off x="6537960" y="470916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YOU'RE SEEING THIS DOCTOR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6537960" y="501091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8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6858000" y="501091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km away · relevant speciality</a:t>
            </a:r>
            <a:endParaRPr lang="en-US" sz="1150" dirty="0"/>
          </a:p>
        </p:txBody>
      </p:sp>
      <p:sp>
        <p:nvSpPr>
          <p:cNvPr id="52" name="Text 50"/>
          <p:cNvSpPr txBox="1"/>
          <p:nvPr/>
        </p:nvSpPr>
        <p:spPr>
          <a:xfrm>
            <a:off x="6537960" y="534009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8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6858000" y="534009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today · verified recently</a:t>
            </a:r>
            <a:endParaRPr lang="en-US" sz="1150" dirty="0"/>
          </a:p>
        </p:txBody>
      </p:sp>
      <p:sp>
        <p:nvSpPr>
          <p:cNvPr id="54" name="Text 52"/>
          <p:cNvSpPr txBox="1"/>
          <p:nvPr/>
        </p:nvSpPr>
        <p:spPr>
          <a:xfrm>
            <a:off x="6537960" y="566928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8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6858000" y="566928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&amp; English listed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FEATURES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2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MERN + AI architecture, built for a complete experience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256032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blurRad="76200" dist="25400" dir="5400000" algn="bl" rotWithShape="0">
              <a:srgbClr val="1A2B2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2560320" cy="548640"/>
          </a:xfrm>
          <a:prstGeom prst="roundRect">
            <a:avLst>
              <a:gd name="adj" fmla="val 20000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40080" y="1810512"/>
            <a:ext cx="2560320" cy="246888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804672" y="1508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139696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+ Tailwind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5146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Doctor discovery UI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8346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CarePath UI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31546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Admin dashboard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3280" y="1508760"/>
            <a:ext cx="256032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blurRad="76200" dist="25400" dir="5400000" algn="bl" rotWithShape="0">
              <a:srgbClr val="1A2B2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383280" y="1508760"/>
            <a:ext cx="2560320" cy="54864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383280" y="1810512"/>
            <a:ext cx="2560320" cy="246888"/>
          </a:xfrm>
          <a:prstGeom prst="rect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3547872" y="1508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547872" y="2139696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547872" y="25146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REST APIs &amp; auth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547872" y="28346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Verification system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3547872" y="31546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Reports &amp; availability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1508760"/>
            <a:ext cx="256032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blurRad="76200" dist="25400" dir="5400000" algn="bl" rotWithShape="0">
              <a:srgbClr val="1A2B2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126480" y="1508760"/>
            <a:ext cx="2560320" cy="54864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126480" y="1810512"/>
            <a:ext cx="2560320" cy="24688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6291072" y="1508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291072" y="2139696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+ Mongoose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291072" y="25146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Doctors &amp; clinics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291072" y="28346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Verification records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291072" y="31546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Locations &amp; timings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869680" y="1508760"/>
            <a:ext cx="256032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CE7E7"/>
            </a:solidFill>
            <a:prstDash val="solid"/>
          </a:ln>
          <a:effectLst>
            <a:outerShdw blurRad="76200" dist="25400" dir="5400000" algn="bl" rotWithShape="0">
              <a:srgbClr val="1A2B2B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869680" y="1508760"/>
            <a:ext cx="2560320" cy="548640"/>
          </a:xfrm>
          <a:prstGeom prst="roundRect">
            <a:avLst>
              <a:gd name="adj" fmla="val 20000"/>
            </a:avLst>
          </a:prstGeom>
          <a:solidFill>
            <a:srgbClr val="5C6B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869680" y="1810512"/>
            <a:ext cx="2560320" cy="246888"/>
          </a:xfrm>
          <a:prstGeom prst="rect">
            <a:avLst/>
          </a:prstGeom>
          <a:solidFill>
            <a:srgbClr val="5C6B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 txBox="1"/>
          <p:nvPr/>
        </p:nvSpPr>
        <p:spPr>
          <a:xfrm>
            <a:off x="9034272" y="1508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Layer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9034272" y="2139696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75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LLM-based Guidance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9034272" y="251460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Symptom → speciality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9034272" y="28346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Safety &amp; validation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9034272" y="315468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Explanation generation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0080" y="3794760"/>
            <a:ext cx="10927080" cy="868680"/>
          </a:xfrm>
          <a:prstGeom prst="roundRect">
            <a:avLst>
              <a:gd name="adj" fmla="val 12632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 txBox="1"/>
          <p:nvPr/>
        </p:nvSpPr>
        <p:spPr>
          <a:xfrm>
            <a:off x="914400" y="390448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GUIDANCE FLOW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14400" y="4187952"/>
            <a:ext cx="1417320" cy="384048"/>
          </a:xfrm>
          <a:prstGeom prst="roundRect">
            <a:avLst>
              <a:gd name="adj" fmla="val 16667"/>
            </a:avLst>
          </a:prstGeom>
          <a:solidFill>
            <a:srgbClr val="16324F"/>
          </a:solidFill>
          <a:ln w="12700">
            <a:solidFill>
              <a:srgbClr val="234B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 txBox="1"/>
          <p:nvPr/>
        </p:nvSpPr>
        <p:spPr>
          <a:xfrm>
            <a:off x="960120" y="418795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2331720" y="4187952"/>
            <a:ext cx="82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414016" y="4187952"/>
            <a:ext cx="1417320" cy="384048"/>
          </a:xfrm>
          <a:prstGeom prst="roundRect">
            <a:avLst>
              <a:gd name="adj" fmla="val 16667"/>
            </a:avLst>
          </a:prstGeom>
          <a:solidFill>
            <a:srgbClr val="16324F"/>
          </a:solidFill>
          <a:ln w="12700">
            <a:solidFill>
              <a:srgbClr val="234B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 txBox="1"/>
          <p:nvPr/>
        </p:nvSpPr>
        <p:spPr>
          <a:xfrm>
            <a:off x="2459736" y="418795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3831336" y="4187952"/>
            <a:ext cx="82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913632" y="4187952"/>
            <a:ext cx="1417320" cy="384048"/>
          </a:xfrm>
          <a:prstGeom prst="roundRect">
            <a:avLst>
              <a:gd name="adj" fmla="val 16667"/>
            </a:avLst>
          </a:prstGeom>
          <a:solidFill>
            <a:srgbClr val="16324F"/>
          </a:solidFill>
          <a:ln w="12700">
            <a:solidFill>
              <a:srgbClr val="234B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 txBox="1"/>
          <p:nvPr/>
        </p:nvSpPr>
        <p:spPr>
          <a:xfrm>
            <a:off x="3959352" y="418795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API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5330952" y="4187952"/>
            <a:ext cx="82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413248" y="4187952"/>
            <a:ext cx="1417320" cy="384048"/>
          </a:xfrm>
          <a:prstGeom prst="roundRect">
            <a:avLst>
              <a:gd name="adj" fmla="val 16667"/>
            </a:avLst>
          </a:prstGeom>
          <a:solidFill>
            <a:srgbClr val="16324F"/>
          </a:solidFill>
          <a:ln w="12700">
            <a:solidFill>
              <a:srgbClr val="234B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 txBox="1"/>
          <p:nvPr/>
        </p:nvSpPr>
        <p:spPr>
          <a:xfrm>
            <a:off x="5458968" y="418795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Check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6830568" y="4187952"/>
            <a:ext cx="82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912864" y="4187952"/>
            <a:ext cx="1417320" cy="384048"/>
          </a:xfrm>
          <a:prstGeom prst="roundRect">
            <a:avLst>
              <a:gd name="adj" fmla="val 16667"/>
            </a:avLst>
          </a:prstGeom>
          <a:solidFill>
            <a:srgbClr val="16324F"/>
          </a:solidFill>
          <a:ln w="12700">
            <a:solidFill>
              <a:srgbClr val="234B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 txBox="1"/>
          <p:nvPr/>
        </p:nvSpPr>
        <p:spPr>
          <a:xfrm>
            <a:off x="6958584" y="418795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8330184" y="4187952"/>
            <a:ext cx="82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412480" y="4187952"/>
            <a:ext cx="1417320" cy="384048"/>
          </a:xfrm>
          <a:prstGeom prst="roundRect">
            <a:avLst>
              <a:gd name="adj" fmla="val 16667"/>
            </a:avLst>
          </a:prstGeom>
          <a:solidFill>
            <a:srgbClr val="16324F"/>
          </a:solidFill>
          <a:ln w="12700">
            <a:solidFill>
              <a:srgbClr val="234B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 txBox="1"/>
          <p:nvPr/>
        </p:nvSpPr>
        <p:spPr>
          <a:xfrm>
            <a:off x="8458200" y="418795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Speciality DB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9829800" y="4187952"/>
            <a:ext cx="82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9912096" y="4187952"/>
            <a:ext cx="1417320" cy="384048"/>
          </a:xfrm>
          <a:prstGeom prst="roundRect">
            <a:avLst>
              <a:gd name="adj" fmla="val 16667"/>
            </a:avLst>
          </a:prstGeom>
          <a:solidFill>
            <a:srgbClr val="16324F"/>
          </a:solidFill>
          <a:ln w="12700">
            <a:solidFill>
              <a:srgbClr val="234B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 txBox="1"/>
          <p:nvPr/>
        </p:nvSpPr>
        <p:spPr>
          <a:xfrm>
            <a:off x="9957816" y="4187952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Search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64008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PATIENT FEATURES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40080" y="5166360"/>
            <a:ext cx="274320" cy="2743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 txBox="1"/>
          <p:nvPr/>
        </p:nvSpPr>
        <p:spPr>
          <a:xfrm>
            <a:off x="640080" y="5166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1005840" y="511149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→ City → Speciality discovery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3364992" y="5166360"/>
            <a:ext cx="274320" cy="2743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 txBox="1"/>
          <p:nvPr/>
        </p:nvSpPr>
        <p:spPr>
          <a:xfrm>
            <a:off x="3364992" y="5166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4" name="Text 62"/>
          <p:cNvSpPr txBox="1"/>
          <p:nvPr/>
        </p:nvSpPr>
        <p:spPr>
          <a:xfrm>
            <a:off x="3730752" y="511149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CarePath specialist guidance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089904" y="5166360"/>
            <a:ext cx="274320" cy="2743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 txBox="1"/>
          <p:nvPr/>
        </p:nvSpPr>
        <p:spPr>
          <a:xfrm>
            <a:off x="6089904" y="5166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7" name="Text 65"/>
          <p:cNvSpPr txBox="1"/>
          <p:nvPr/>
        </p:nvSpPr>
        <p:spPr>
          <a:xfrm>
            <a:off x="6455664" y="511149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Confidence signal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8814816" y="5166360"/>
            <a:ext cx="274320" cy="2743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 txBox="1"/>
          <p:nvPr/>
        </p:nvSpPr>
        <p:spPr>
          <a:xfrm>
            <a:off x="8814816" y="5166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0" name="Text 68"/>
          <p:cNvSpPr txBox="1"/>
          <p:nvPr/>
        </p:nvSpPr>
        <p:spPr>
          <a:xfrm>
            <a:off x="9180576" y="5111496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“Can I visit now?” live ranking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40080" y="5733288"/>
            <a:ext cx="274320" cy="2743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 txBox="1"/>
          <p:nvPr/>
        </p:nvSpPr>
        <p:spPr>
          <a:xfrm>
            <a:off x="640080" y="5733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3" name="Text 71"/>
          <p:cNvSpPr txBox="1"/>
          <p:nvPr/>
        </p:nvSpPr>
        <p:spPr>
          <a:xfrm>
            <a:off x="1005840" y="567842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Traveller Mode &amp; language filters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3364992" y="5733288"/>
            <a:ext cx="274320" cy="2743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 txBox="1"/>
          <p:nvPr/>
        </p:nvSpPr>
        <p:spPr>
          <a:xfrm>
            <a:off x="3364992" y="5733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6" name="Text 74"/>
          <p:cNvSpPr txBox="1"/>
          <p:nvPr/>
        </p:nvSpPr>
        <p:spPr>
          <a:xfrm>
            <a:off x="3730752" y="567842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Community-powered verification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6089904" y="5733288"/>
            <a:ext cx="274320" cy="2743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 txBox="1"/>
          <p:nvPr/>
        </p:nvSpPr>
        <p:spPr>
          <a:xfrm>
            <a:off x="6089904" y="5733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9" name="Text 77"/>
          <p:cNvSpPr txBox="1"/>
          <p:nvPr/>
        </p:nvSpPr>
        <p:spPr>
          <a:xfrm>
            <a:off x="6455664" y="567842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Maps, directions &amp; accessibility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8814816" y="5733288"/>
            <a:ext cx="274320" cy="2743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1" name="Text 79"/>
          <p:cNvSpPr txBox="1"/>
          <p:nvPr/>
        </p:nvSpPr>
        <p:spPr>
          <a:xfrm>
            <a:off x="8814816" y="5733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2" name="Text 80"/>
          <p:cNvSpPr txBox="1"/>
          <p:nvPr/>
        </p:nvSpPr>
        <p:spPr>
          <a:xfrm>
            <a:off x="9180576" y="5678424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admin &amp; clinic verification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0D23100-9539-5D1D-24F9-AEA59EACD9B3}"/>
              </a:ext>
            </a:extLst>
          </p:cNvPr>
          <p:cNvSpPr/>
          <p:nvPr/>
        </p:nvSpPr>
        <p:spPr>
          <a:xfrm>
            <a:off x="-1463040" y="-1463040"/>
            <a:ext cx="4754880" cy="475488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D3EE8AD-938A-8E04-A69D-820208B5EC9B}"/>
              </a:ext>
            </a:extLst>
          </p:cNvPr>
          <p:cNvSpPr/>
          <p:nvPr/>
        </p:nvSpPr>
        <p:spPr>
          <a:xfrm>
            <a:off x="9326880" y="4206240"/>
            <a:ext cx="4206240" cy="4206240"/>
          </a:xfrm>
          <a:prstGeom prst="ellipse">
            <a:avLst/>
          </a:prstGeom>
          <a:solidFill>
            <a:srgbClr val="00A896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2494398-523C-C47C-439C-734F48D96DCE}"/>
              </a:ext>
            </a:extLst>
          </p:cNvPr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IMPACT</a:t>
            </a:r>
            <a:endParaRPr lang="en-US" sz="1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771D399-1754-AEF1-5E10-EC4B70EE0FC5}"/>
              </a:ext>
            </a:extLst>
          </p:cNvPr>
          <p:cNvSpPr txBox="1"/>
          <p:nvPr/>
        </p:nvSpPr>
        <p:spPr>
          <a:xfrm>
            <a:off x="64008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From doctor directory to healthcare navigation network</a:t>
            </a:r>
            <a:endParaRPr lang="en-US" sz="3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598B798-0A41-B2B3-B8F4-FB8A5E43E977}"/>
              </a:ext>
            </a:extLst>
          </p:cNvPr>
          <p:cNvSpPr txBox="1"/>
          <p:nvPr/>
        </p:nvSpPr>
        <p:spPr>
          <a:xfrm>
            <a:off x="640080" y="1463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4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9D5B204B-D1D3-18E4-EBD4-7343E6D3E15A}"/>
              </a:ext>
            </a:extLst>
          </p:cNvPr>
          <p:cNvSpPr/>
          <p:nvPr/>
        </p:nvSpPr>
        <p:spPr>
          <a:xfrm>
            <a:off x="896112" y="1965960"/>
            <a:ext cx="0" cy="2647188"/>
          </a:xfrm>
          <a:prstGeom prst="line">
            <a:avLst/>
          </a:prstGeom>
          <a:noFill/>
          <a:ln w="25400">
            <a:solidFill>
              <a:srgbClr val="234B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A8DE4B9-2290-1E17-C32E-238A37650778}"/>
              </a:ext>
            </a:extLst>
          </p:cNvPr>
          <p:cNvSpPr/>
          <p:nvPr/>
        </p:nvSpPr>
        <p:spPr>
          <a:xfrm>
            <a:off x="713232" y="1801368"/>
            <a:ext cx="365760" cy="365760"/>
          </a:xfrm>
          <a:prstGeom prst="ellipse">
            <a:avLst/>
          </a:prstGeom>
          <a:solidFill>
            <a:srgbClr val="028090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A13311B-A7FD-4B04-BEDD-76BD787D8646}"/>
              </a:ext>
            </a:extLst>
          </p:cNvPr>
          <p:cNvSpPr txBox="1"/>
          <p:nvPr/>
        </p:nvSpPr>
        <p:spPr>
          <a:xfrm>
            <a:off x="713232" y="1801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5C43B5C-4693-9F19-7E2A-C39E2594F5B9}"/>
              </a:ext>
            </a:extLst>
          </p:cNvPr>
          <p:cNvSpPr txBox="1"/>
          <p:nvPr/>
        </p:nvSpPr>
        <p:spPr>
          <a:xfrm>
            <a:off x="1234440" y="178308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Doctor discovery + verified info</a:t>
            </a:r>
            <a:endParaRPr lang="en-US" sz="14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0A90ED7-9CB7-08F1-1B19-8DA7E7B92300}"/>
              </a:ext>
            </a:extLst>
          </p:cNvPr>
          <p:cNvSpPr/>
          <p:nvPr/>
        </p:nvSpPr>
        <p:spPr>
          <a:xfrm>
            <a:off x="713232" y="2199132"/>
            <a:ext cx="365760" cy="365760"/>
          </a:xfrm>
          <a:prstGeom prst="ellipse">
            <a:avLst/>
          </a:prstGeom>
          <a:solidFill>
            <a:srgbClr val="028090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3C74BC1-1173-C83D-8B56-EDFB52858EAB}"/>
              </a:ext>
            </a:extLst>
          </p:cNvPr>
          <p:cNvSpPr txBox="1"/>
          <p:nvPr/>
        </p:nvSpPr>
        <p:spPr>
          <a:xfrm>
            <a:off x="713232" y="21991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0268387-470F-4DE3-8B06-8C0B6DD54D27}"/>
              </a:ext>
            </a:extLst>
          </p:cNvPr>
          <p:cNvSpPr txBox="1"/>
          <p:nvPr/>
        </p:nvSpPr>
        <p:spPr>
          <a:xfrm>
            <a:off x="1234440" y="2180844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AI specialist guidance</a:t>
            </a:r>
            <a:endParaRPr lang="en-US" sz="14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BDBB9A7A-089F-2235-00B7-9B73EE7DD8C9}"/>
              </a:ext>
            </a:extLst>
          </p:cNvPr>
          <p:cNvSpPr/>
          <p:nvPr/>
        </p:nvSpPr>
        <p:spPr>
          <a:xfrm>
            <a:off x="713232" y="2596896"/>
            <a:ext cx="365760" cy="365760"/>
          </a:xfrm>
          <a:prstGeom prst="ellipse">
            <a:avLst/>
          </a:prstGeom>
          <a:solidFill>
            <a:srgbClr val="028090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B5A6F701-F807-D64A-12BA-6CA909B0F1F4}"/>
              </a:ext>
            </a:extLst>
          </p:cNvPr>
          <p:cNvSpPr txBox="1"/>
          <p:nvPr/>
        </p:nvSpPr>
        <p:spPr>
          <a:xfrm>
            <a:off x="713232" y="25968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33EB684F-3A61-B037-76F4-24426F967AD2}"/>
              </a:ext>
            </a:extLst>
          </p:cNvPr>
          <p:cNvSpPr txBox="1"/>
          <p:nvPr/>
        </p:nvSpPr>
        <p:spPr>
          <a:xfrm>
            <a:off x="1234440" y="2578608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Info Confidence + community verification</a:t>
            </a:r>
            <a:endParaRPr lang="en-US" sz="14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F6CD792C-7EB3-3EE3-A66E-14DEBFFA024E}"/>
              </a:ext>
            </a:extLst>
          </p:cNvPr>
          <p:cNvSpPr/>
          <p:nvPr/>
        </p:nvSpPr>
        <p:spPr>
          <a:xfrm>
            <a:off x="713232" y="2994660"/>
            <a:ext cx="365760" cy="365760"/>
          </a:xfrm>
          <a:prstGeom prst="ellipse">
            <a:avLst/>
          </a:prstGeom>
          <a:solidFill>
            <a:srgbClr val="16324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82BBE06-DA6B-C4BA-3720-31984DAFC0C7}"/>
              </a:ext>
            </a:extLst>
          </p:cNvPr>
          <p:cNvSpPr txBox="1"/>
          <p:nvPr/>
        </p:nvSpPr>
        <p:spPr>
          <a:xfrm>
            <a:off x="713232" y="29946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6B49804-A0EC-D0FB-FA8F-BE30085BA9DC}"/>
              </a:ext>
            </a:extLst>
          </p:cNvPr>
          <p:cNvSpPr txBox="1"/>
          <p:nvPr/>
        </p:nvSpPr>
        <p:spPr>
          <a:xfrm>
            <a:off x="1234440" y="297637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Live clinic availability</a:t>
            </a:r>
            <a:endParaRPr lang="en-US" sz="14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239CA0B8-BC03-CCDF-8966-6CE3B98A091F}"/>
              </a:ext>
            </a:extLst>
          </p:cNvPr>
          <p:cNvSpPr/>
          <p:nvPr/>
        </p:nvSpPr>
        <p:spPr>
          <a:xfrm>
            <a:off x="713232" y="3392424"/>
            <a:ext cx="365760" cy="365760"/>
          </a:xfrm>
          <a:prstGeom prst="ellipse">
            <a:avLst/>
          </a:prstGeom>
          <a:solidFill>
            <a:srgbClr val="16324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00AAE211-5A88-9EF2-5924-1E1922BE7967}"/>
              </a:ext>
            </a:extLst>
          </p:cNvPr>
          <p:cNvSpPr txBox="1"/>
          <p:nvPr/>
        </p:nvSpPr>
        <p:spPr>
          <a:xfrm>
            <a:off x="713232" y="33924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04B19E8-362D-FC6D-52F0-3970340E3D72}"/>
              </a:ext>
            </a:extLst>
          </p:cNvPr>
          <p:cNvSpPr txBox="1"/>
          <p:nvPr/>
        </p:nvSpPr>
        <p:spPr>
          <a:xfrm>
            <a:off x="1234440" y="3374136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Doctor / Clinic self-serve portal</a:t>
            </a:r>
            <a:endParaRPr lang="en-US" sz="140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88D68724-F62E-7501-1C96-DF027EC68792}"/>
              </a:ext>
            </a:extLst>
          </p:cNvPr>
          <p:cNvSpPr/>
          <p:nvPr/>
        </p:nvSpPr>
        <p:spPr>
          <a:xfrm>
            <a:off x="713232" y="3790188"/>
            <a:ext cx="365760" cy="365760"/>
          </a:xfrm>
          <a:prstGeom prst="ellipse">
            <a:avLst/>
          </a:prstGeom>
          <a:solidFill>
            <a:srgbClr val="16324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85740861-A5D1-1D9B-0E1B-8F50915254D4}"/>
              </a:ext>
            </a:extLst>
          </p:cNvPr>
          <p:cNvSpPr txBox="1"/>
          <p:nvPr/>
        </p:nvSpPr>
        <p:spPr>
          <a:xfrm>
            <a:off x="713232" y="37901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AA08DB2D-43A0-1F34-CBBE-02E0E4072897}"/>
              </a:ext>
            </a:extLst>
          </p:cNvPr>
          <p:cNvSpPr txBox="1"/>
          <p:nvPr/>
        </p:nvSpPr>
        <p:spPr>
          <a:xfrm>
            <a:off x="1234440" y="37719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 + digital queue</a:t>
            </a:r>
            <a:endParaRPr lang="en-US" sz="140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90C2F285-DF67-51DE-EFF6-DF1706A128CA}"/>
              </a:ext>
            </a:extLst>
          </p:cNvPr>
          <p:cNvSpPr/>
          <p:nvPr/>
        </p:nvSpPr>
        <p:spPr>
          <a:xfrm>
            <a:off x="713232" y="4187952"/>
            <a:ext cx="365760" cy="365760"/>
          </a:xfrm>
          <a:prstGeom prst="ellipse">
            <a:avLst/>
          </a:prstGeom>
          <a:solidFill>
            <a:srgbClr val="16324F"/>
          </a:solidFill>
          <a:ln w="1905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F90D2F4A-4207-CC34-4BC4-D7A93F7B7B4C}"/>
              </a:ext>
            </a:extLst>
          </p:cNvPr>
          <p:cNvSpPr txBox="1"/>
          <p:nvPr/>
        </p:nvSpPr>
        <p:spPr>
          <a:xfrm>
            <a:off x="713232" y="4187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DFA2734B-62CC-87CD-DCD3-6487CD03ADD5}"/>
              </a:ext>
            </a:extLst>
          </p:cNvPr>
          <p:cNvSpPr txBox="1"/>
          <p:nvPr/>
        </p:nvSpPr>
        <p:spPr>
          <a:xfrm>
            <a:off x="1234440" y="4169664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AI navigation</a:t>
            </a:r>
            <a:endParaRPr lang="en-US" sz="14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97F02F49-6452-250B-F178-823D3979D39C}"/>
              </a:ext>
            </a:extLst>
          </p:cNvPr>
          <p:cNvSpPr txBox="1"/>
          <p:nvPr/>
        </p:nvSpPr>
        <p:spPr>
          <a:xfrm>
            <a:off x="6263640" y="14630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4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F4ECBF65-BC09-B9A5-FB02-C87934F5679C}"/>
              </a:ext>
            </a:extLst>
          </p:cNvPr>
          <p:cNvSpPr/>
          <p:nvPr/>
        </p:nvSpPr>
        <p:spPr>
          <a:xfrm>
            <a:off x="6263640" y="1783080"/>
            <a:ext cx="5257800" cy="548640"/>
          </a:xfrm>
          <a:prstGeom prst="roundRect">
            <a:avLst>
              <a:gd name="adj" fmla="val 13333"/>
            </a:avLst>
          </a:prstGeom>
          <a:solidFill>
            <a:srgbClr val="16324F"/>
          </a:solidFill>
          <a:ln w="12700">
            <a:solidFill>
              <a:srgbClr val="234B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010C1686-EEFD-7ECA-54A6-C85671E13CB9}"/>
              </a:ext>
            </a:extLst>
          </p:cNvPr>
          <p:cNvSpPr txBox="1"/>
          <p:nvPr/>
        </p:nvSpPr>
        <p:spPr>
          <a:xfrm>
            <a:off x="6446520" y="17830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6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E48E4D33-E46E-B8A5-901D-6A5253741844}"/>
              </a:ext>
            </a:extLst>
          </p:cNvPr>
          <p:cNvSpPr txBox="1"/>
          <p:nvPr/>
        </p:nvSpPr>
        <p:spPr>
          <a:xfrm>
            <a:off x="7589520" y="17830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searching · better specialist selection · easier access</a:t>
            </a:r>
            <a:endParaRPr lang="en-US" sz="105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C5CBF944-84D9-06F2-CB4E-6A0C899C45B5}"/>
              </a:ext>
            </a:extLst>
          </p:cNvPr>
          <p:cNvSpPr/>
          <p:nvPr/>
        </p:nvSpPr>
        <p:spPr>
          <a:xfrm>
            <a:off x="6263640" y="2441448"/>
            <a:ext cx="5257800" cy="548640"/>
          </a:xfrm>
          <a:prstGeom prst="roundRect">
            <a:avLst>
              <a:gd name="adj" fmla="val 13333"/>
            </a:avLst>
          </a:prstGeom>
          <a:solidFill>
            <a:srgbClr val="16324F"/>
          </a:solidFill>
          <a:ln w="12700">
            <a:solidFill>
              <a:srgbClr val="234B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B942818E-E57C-4792-DE79-476AE2816E5F}"/>
              </a:ext>
            </a:extLst>
          </p:cNvPr>
          <p:cNvSpPr txBox="1"/>
          <p:nvPr/>
        </p:nvSpPr>
        <p:spPr>
          <a:xfrm>
            <a:off x="6446520" y="244144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Doctors</a:t>
            </a:r>
            <a:endParaRPr lang="en-US" sz="16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B640A513-5DBA-074A-8E4C-2363D86638B5}"/>
              </a:ext>
            </a:extLst>
          </p:cNvPr>
          <p:cNvSpPr txBox="1"/>
          <p:nvPr/>
        </p:nvSpPr>
        <p:spPr>
          <a:xfrm>
            <a:off x="7589520" y="244144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presence · better discoverability · less misinformation</a:t>
            </a:r>
            <a:endParaRPr lang="en-US" sz="105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BBA1FD99-F056-FE38-0EE4-08E7E462722D}"/>
              </a:ext>
            </a:extLst>
          </p:cNvPr>
          <p:cNvSpPr/>
          <p:nvPr/>
        </p:nvSpPr>
        <p:spPr>
          <a:xfrm>
            <a:off x="6263640" y="3128459"/>
            <a:ext cx="5257800" cy="1280160"/>
          </a:xfrm>
          <a:prstGeom prst="roundRect">
            <a:avLst>
              <a:gd name="adj" fmla="val 7143"/>
            </a:avLst>
          </a:prstGeom>
          <a:solidFill>
            <a:srgbClr val="173A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C357B4F9-2A97-220E-294D-B8B9536E5D62}"/>
              </a:ext>
            </a:extLst>
          </p:cNvPr>
          <p:cNvSpPr txBox="1"/>
          <p:nvPr/>
        </p:nvSpPr>
        <p:spPr>
          <a:xfrm>
            <a:off x="6492240" y="3128459"/>
            <a:ext cx="4800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“Doesn't Practo already do this?”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don't compete on doctor count or appointments — our focus is information confidence and navigation for someone unsure which specialist to consult, or whether what they see is still current.</a:t>
            </a:r>
            <a:endParaRPr lang="en-US" sz="1200" dirty="0"/>
          </a:p>
        </p:txBody>
      </p:sp>
      <p:sp>
        <p:nvSpPr>
          <p:cNvPr id="41" name="Shape 39">
            <a:extLst>
              <a:ext uri="{FF2B5EF4-FFF2-40B4-BE49-F238E27FC236}">
                <a16:creationId xmlns:a16="http://schemas.microsoft.com/office/drawing/2014/main" id="{B70C61D3-2269-F68C-EEC3-A93571184C28}"/>
              </a:ext>
            </a:extLst>
          </p:cNvPr>
          <p:cNvSpPr/>
          <p:nvPr/>
        </p:nvSpPr>
        <p:spPr>
          <a:xfrm>
            <a:off x="640080" y="5440683"/>
            <a:ext cx="10927080" cy="0"/>
          </a:xfrm>
          <a:prstGeom prst="line">
            <a:avLst/>
          </a:prstGeom>
          <a:noFill/>
          <a:ln w="12700">
            <a:solidFill>
              <a:srgbClr val="234B6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2A52A28E-FB8C-38FF-8CE9-C7DDB535CD2B}"/>
              </a:ext>
            </a:extLst>
          </p:cNvPr>
          <p:cNvSpPr txBox="1"/>
          <p:nvPr/>
        </p:nvSpPr>
        <p:spPr>
          <a:xfrm>
            <a:off x="640080" y="5577843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i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“Don't just find a doctor. Find the right path to care.”</a:t>
            </a:r>
            <a:endParaRPr lang="en-US" sz="2800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2C302777-E717-A140-62B7-CD4D90EF0A4E}"/>
              </a:ext>
            </a:extLst>
          </p:cNvPr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F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6" name="Text 40">
            <a:extLst>
              <a:ext uri="{FF2B5EF4-FFF2-40B4-BE49-F238E27FC236}">
                <a16:creationId xmlns:a16="http://schemas.microsoft.com/office/drawing/2014/main" id="{0B100334-8350-18A8-F3EB-03585FA1DE57}"/>
              </a:ext>
            </a:extLst>
          </p:cNvPr>
          <p:cNvSpPr txBox="1"/>
          <p:nvPr/>
        </p:nvSpPr>
        <p:spPr>
          <a:xfrm>
            <a:off x="640080" y="6144771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2800" dirty="0" err="1">
                <a:hlinkClick r:id="rId2"/>
              </a:rPr>
              <a:t>mediTrust</a:t>
            </a:r>
            <a:r>
              <a:rPr lang="en-IN" sz="2800" dirty="0">
                <a:hlinkClick r:id="rId2"/>
              </a:rPr>
              <a:t> — Clearer care choices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88076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743</Words>
  <Application>Microsoft Office PowerPoint</Application>
  <PresentationFormat>Widescreen</PresentationFormat>
  <Paragraphs>228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Adnan Khan</cp:lastModifiedBy>
  <cp:revision>5</cp:revision>
  <dcterms:created xsi:type="dcterms:W3CDTF">2026-08-27T05:15:09Z</dcterms:created>
  <dcterms:modified xsi:type="dcterms:W3CDTF">2026-09-03T03:42:34Z</dcterms:modified>
</cp:coreProperties>
</file>