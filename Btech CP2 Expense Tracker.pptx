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7" r:id="rId9"/>
    <p:sldId id="268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DM Sans" pitchFamily="2" charset="0"/>
      <p:regular r:id="rId16"/>
      <p:bold r:id="rId17"/>
    </p:embeddedFont>
    <p:embeddedFont>
      <p:font typeface="Libre Baskerville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D1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2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502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ABE5-0BF0-80F4-3FB8-4AA200694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4D70E-F7F6-DE74-0114-EBF6672FD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99F0C-7108-D096-18EF-64BB6947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5C983-F905-FE75-A261-4E5322BF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85758-B4D4-FBFB-F238-4F294602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1423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C6F5-7F7B-E895-124C-281E51296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4AE5-EE92-2F94-0433-F08F9DF0F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50A8-6422-88CF-83B8-5636BAB8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0EA9E-4619-25D1-58E6-894E0984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59450-7578-78A1-5626-10C4E927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0284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EED2-60CA-A151-02A2-024AC2EF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B9E50-2AE8-D6D0-562E-2ABD57D3B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894C6-D2AB-3C92-6DCA-35F3D777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E62C-1A81-6F39-AD67-57C0EC3F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DE99D-F64E-DDCF-763E-2BDE76E5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1584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832E-9A6F-ABA5-5C04-0FB57EBE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6F533-8122-2206-BD27-CD61D0B71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03955-635F-E1E9-2B27-E18F7A3E4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C65D2-100A-2ACC-5105-2E4E1CF9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2C6AA-0FEE-0A99-82DE-82C829F9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43141-2E68-95AC-3CE6-DFF17A8A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9220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7561-9534-F1D1-7B0E-B8AB17CB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5574A-8490-DA36-4EFB-A712BE851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BB6F5-13EC-A856-044A-BA7448C66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4C32F-07DE-EDC8-000B-82BA1C525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9276B-E491-0A70-DABE-2D70E7590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DE132-2E6A-F098-3E1F-17BA4EA3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B4C5E4-7E95-D311-2C7D-559C98F3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76D9B-3A61-540C-A9A5-220A4E0E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9430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0314-9587-BFA3-D93E-74B4450E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6B8CB-46D3-2A78-22AB-814614DF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95EC5-A293-DEAA-9182-753AA9DD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12DD9-DD35-97EF-4BBE-A10279F6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4681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9BA22B-8683-9259-4AD7-E904844F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4A4DA-7947-CD49-34DF-2B13A654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0B9F5-6933-1008-A7E9-927288D2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262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8B25-345D-3A22-25B2-AAC526FCA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58F38-B17C-E0DB-60F0-26E7D58B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A9DE6-C83F-DDDF-B33F-2B577583C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F75CF-6D28-9B77-FC5B-B269F23C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8B4A4-46DD-8D87-5707-4514CAAD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D240B-E460-2753-8E31-524A0AD8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061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169F-6AAF-35F1-519E-C2BC5A37A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81542-7A28-1D1E-7919-8F5ED5C05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1689B-10C7-FCFF-2F6E-22A17BE58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C3B5E-05D4-CE0C-CAEB-FB7326E88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D06F3-4F49-FC0B-479A-B49863E58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EDEA3-6518-5F43-38F1-A30CBB5D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458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FF76-5445-4A69-F4C0-84D5E013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8DE1A-55F3-AA39-99E6-78788421E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34D93-3288-0F88-837A-2A660896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B01C5-4045-2564-A326-97C068AF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7BD43-04CC-EC73-27A3-EAEB3DC3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7566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63032-E2AA-89AB-923A-C39AE58829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53695-A312-DD11-493D-86795C953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B3AF-3497-E0C1-A074-5C1B1013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73A29-3303-4961-BD79-69A187B6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499AE-AB7B-7EF0-45A7-469BE073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0111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787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685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727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755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1120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00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4921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0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FFF0D1"/>
            </a:gs>
            <a:gs pos="100000">
              <a:schemeClr val="accent1">
                <a:lumMod val="45000"/>
                <a:lumOff val="5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D225A2-0811-29C9-522C-E9F923FC4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9B1E1-01B5-B353-625F-19B4D5B93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3AD6E-7085-5EC6-26E9-9FA737FBB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19ED5-E22A-40FC-BFE1-6F111D5ACE57}" type="datetimeFigureOut">
              <a:rPr lang="en-IN" smtClean="0"/>
              <a:t>24-07-2025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7F8CC-4868-9FB8-CD0C-C6488953C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896EA-FD28-20B2-9933-BAF3796B9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D7377-3CBD-4868-8E5F-575C1D7F56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63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9" r:id="rId17"/>
    <p:sldLayoutId id="2147483680" r:id="rId18"/>
    <p:sldLayoutId id="2147483681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6936F1-344B-8BF4-8A2C-57F2654626E9}"/>
              </a:ext>
            </a:extLst>
          </p:cNvPr>
          <p:cNvSpPr/>
          <p:nvPr/>
        </p:nvSpPr>
        <p:spPr>
          <a:xfrm>
            <a:off x="1181100" y="738759"/>
            <a:ext cx="12293600" cy="6868541"/>
          </a:xfrm>
          <a:prstGeom prst="roundRect">
            <a:avLst/>
          </a:prstGeom>
          <a:solidFill>
            <a:schemeClr val="bg1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DB8FFF4-A4F0-2460-25A7-4E3ACB6A6546}"/>
              </a:ext>
            </a:extLst>
          </p:cNvPr>
          <p:cNvSpPr txBox="1"/>
          <p:nvPr/>
        </p:nvSpPr>
        <p:spPr>
          <a:xfrm>
            <a:off x="7245625" y="6026003"/>
            <a:ext cx="5824367" cy="1517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latin typeface="DM Sans" pitchFamily="2" charset="0"/>
                <a:ea typeface="Roboto Slab" pitchFamily="34" charset="-122"/>
                <a:cs typeface="Roboto Slab" pitchFamily="34" charset="-120"/>
              </a:rPr>
              <a:t>Submitted By: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latin typeface="DM Sans" pitchFamily="2" charset="0"/>
                <a:ea typeface="Roboto Slab" pitchFamily="34" charset="-122"/>
                <a:cs typeface="Roboto Slab" pitchFamily="34" charset="-120"/>
              </a:rPr>
              <a:t>Deepak Sahu(0101IT231081)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latin typeface="DM Sans" pitchFamily="2" charset="0"/>
                <a:ea typeface="Roboto Slab" pitchFamily="34" charset="-122"/>
                <a:cs typeface="Roboto Slab" pitchFamily="34" charset="-120"/>
              </a:rPr>
              <a:t>Adnan Khan(0101IT243D01)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B090B552-1F22-DE37-49F6-30E6E54221FA}"/>
              </a:ext>
            </a:extLst>
          </p:cNvPr>
          <p:cNvSpPr txBox="1"/>
          <p:nvPr/>
        </p:nvSpPr>
        <p:spPr>
          <a:xfrm>
            <a:off x="3783330" y="4133662"/>
            <a:ext cx="7768397" cy="205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000"/>
              </a:spcBef>
            </a:pPr>
            <a:r>
              <a:rPr lang="en-US" sz="2800" dirty="0">
                <a:solidFill>
                  <a:schemeClr val="tx1"/>
                </a:solidFill>
                <a:latin typeface="DM Sans" pitchFamily="2" charset="0"/>
                <a:ea typeface="Roboto Slab" pitchFamily="34" charset="-122"/>
                <a:cs typeface="Roboto Slab" pitchFamily="34" charset="-120"/>
              </a:rPr>
              <a:t>Subject: Computer Programming – II</a:t>
            </a:r>
          </a:p>
          <a:p>
            <a:pPr algn="ctr">
              <a:spcBef>
                <a:spcPts val="1000"/>
              </a:spcBef>
            </a:pPr>
            <a:r>
              <a:rPr lang="en-US" sz="2800" dirty="0">
                <a:solidFill>
                  <a:schemeClr val="tx1"/>
                </a:solidFill>
                <a:latin typeface="DM Sans" pitchFamily="2" charset="0"/>
                <a:ea typeface="Roboto Slab" pitchFamily="34" charset="-122"/>
                <a:cs typeface="Roboto Slab" pitchFamily="34" charset="-120"/>
              </a:rPr>
              <a:t>Branch: - IT (4</a:t>
            </a:r>
            <a:r>
              <a:rPr lang="en-US" sz="2800" baseline="30000" dirty="0">
                <a:solidFill>
                  <a:schemeClr val="tx1"/>
                </a:solidFill>
                <a:latin typeface="DM Sans" pitchFamily="2" charset="0"/>
                <a:ea typeface="Roboto Slab" pitchFamily="34" charset="-122"/>
                <a:cs typeface="Roboto Slab" pitchFamily="34" charset="-120"/>
              </a:rPr>
              <a:t>th</a:t>
            </a:r>
            <a:r>
              <a:rPr lang="en-US" sz="2800" dirty="0">
                <a:solidFill>
                  <a:schemeClr val="tx1"/>
                </a:solidFill>
                <a:latin typeface="DM Sans" pitchFamily="2" charset="0"/>
                <a:ea typeface="Roboto Slab" pitchFamily="34" charset="-122"/>
                <a:cs typeface="Roboto Slab" pitchFamily="34" charset="-120"/>
              </a:rPr>
              <a:t> Sem)</a:t>
            </a:r>
          </a:p>
          <a:p>
            <a:pPr algn="ctr">
              <a:spcBef>
                <a:spcPts val="1000"/>
              </a:spcBef>
            </a:pPr>
            <a:r>
              <a:rPr lang="en-US" sz="2800" dirty="0">
                <a:solidFill>
                  <a:schemeClr val="tx1"/>
                </a:solidFill>
                <a:latin typeface="DM Sans" pitchFamily="2" charset="0"/>
                <a:ea typeface="Roboto Slab" pitchFamily="34" charset="-122"/>
                <a:cs typeface="Roboto Slab" pitchFamily="34" charset="-120"/>
              </a:rPr>
              <a:t>Subject Code: - IT413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GB" sz="2000" dirty="0">
              <a:solidFill>
                <a:schemeClr val="tx1"/>
              </a:solidFill>
              <a:latin typeface="DM 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5A720-E60F-1625-0D57-8C17C1556246}"/>
              </a:ext>
            </a:extLst>
          </p:cNvPr>
          <p:cNvSpPr txBox="1"/>
          <p:nvPr/>
        </p:nvSpPr>
        <p:spPr>
          <a:xfrm>
            <a:off x="2640512" y="2999032"/>
            <a:ext cx="9647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476FD6"/>
                </a:solidFill>
                <a:latin typeface="DM Sans" pitchFamily="2" charset="0"/>
                <a:ea typeface="Roboto Slab" pitchFamily="34" charset="-122"/>
                <a:cs typeface="Roboto Slab" pitchFamily="34" charset="-120"/>
              </a:rPr>
              <a:t>Mini Project:</a:t>
            </a:r>
          </a:p>
          <a:p>
            <a:pPr algn="ctr"/>
            <a:r>
              <a:rPr lang="en-US" sz="3600" dirty="0">
                <a:solidFill>
                  <a:srgbClr val="476FD6"/>
                </a:solidFill>
                <a:latin typeface="DM Sans" pitchFamily="2" charset="0"/>
                <a:ea typeface="Roboto Slab" pitchFamily="34" charset="-122"/>
                <a:cs typeface="Roboto Slab" pitchFamily="34" charset="-120"/>
              </a:rPr>
              <a:t>Expense Tracker</a:t>
            </a:r>
            <a:endParaRPr lang="en-IN" sz="3600" dirty="0">
              <a:solidFill>
                <a:srgbClr val="476FD6"/>
              </a:solidFill>
              <a:latin typeface="DM Sans" pitchFamily="2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41C03-204A-6CBF-8B8F-32AB26FB9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956" y="996472"/>
            <a:ext cx="1776487" cy="18960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0195A8-5511-D6E0-8CA3-B1D8A861359F}"/>
              </a:ext>
            </a:extLst>
          </p:cNvPr>
          <p:cNvSpPr txBox="1"/>
          <p:nvPr/>
        </p:nvSpPr>
        <p:spPr>
          <a:xfrm>
            <a:off x="1639920" y="6016064"/>
            <a:ext cx="5824367" cy="1517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latin typeface="DM Sans" pitchFamily="2" charset="0"/>
                <a:ea typeface="Roboto Slab" pitchFamily="34" charset="-122"/>
                <a:cs typeface="Roboto Slab" pitchFamily="34" charset="-120"/>
              </a:rPr>
              <a:t>Submitted To: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latin typeface="DM Sans" pitchFamily="2" charset="0"/>
                <a:ea typeface="Roboto Slab" pitchFamily="34" charset="-122"/>
                <a:cs typeface="Roboto Slab" pitchFamily="34" charset="-120"/>
              </a:rPr>
              <a:t>Dr Neera Lal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DM Sans" pitchFamily="2" charset="0"/>
                <a:ea typeface="Roboto Slab" pitchFamily="34" charset="-122"/>
                <a:cs typeface="Roboto Slab" pitchFamily="34" charset="-120"/>
              </a:rPr>
              <a:t>Assistant Professor</a:t>
            </a:r>
            <a:endParaRPr lang="en-GB" sz="2800" dirty="0">
              <a:latin typeface="DM Sans" pitchFamily="2" charset="0"/>
              <a:ea typeface="Roboto Slab" pitchFamily="34" charset="-122"/>
              <a:cs typeface="Roboto Slab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8137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 and Scope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614" y="2372082"/>
            <a:ext cx="272177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Empower Users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provide a straightforward tool for easy personal finance management.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9" name="Shape 6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371" y="2372082"/>
            <a:ext cx="272177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Intuitive Interface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a simple, user-friendly interface for quick and efficient input of financial data.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4" name="Shape 10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614" y="4979551"/>
            <a:ext cx="272177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Dynamic Updates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 real-time display of financial status, including income, expenses, and overall balance.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B88E2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371" y="4979551"/>
            <a:ext cx="272177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Browser-Based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stored locally in the browser (session/local storage), eliminating the need for a backend.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24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76550"/>
            <a:ext cx="3525441" cy="3525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80253" y="2825472"/>
            <a:ext cx="89638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HTML5: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foundational markup language used for structuring the web page and creating interactive forms.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880253" y="3630573"/>
            <a:ext cx="89638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CSS3: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Utilized for styling the application, ensuring a responsive, clean, and visually appealing user interface.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80253" y="4435673"/>
            <a:ext cx="89638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Powers the dynamic functionality, handling user interactions, data manipulation, and real-time updates without external libraries.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80253" y="5240774"/>
            <a:ext cx="89638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Bootstrap: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some iterations, Bootstrap was explored for rapid prototyping and consistent styling.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8936"/>
            <a:ext cx="62509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Interface Design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343"/>
            <a:ext cx="6407944" cy="2411254"/>
          </a:xfrm>
          <a:prstGeom prst="roundRect">
            <a:avLst>
              <a:gd name="adj" fmla="val 3951"/>
            </a:avLst>
          </a:prstGeom>
          <a:noFill/>
          <a:ln w="3048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201823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3255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Input 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section with fields for entering transaction descriptions and amounts.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171343"/>
            <a:ext cx="6408063" cy="2411254"/>
          </a:xfrm>
          <a:prstGeom prst="roundRect">
            <a:avLst>
              <a:gd name="adj" fmla="val 3951"/>
            </a:avLst>
          </a:prstGeom>
          <a:noFill/>
          <a:ln w="30480">
            <a:solidFill>
              <a:srgbClr val="DDD3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201823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10" name="Text 8"/>
          <p:cNvSpPr/>
          <p:nvPr/>
        </p:nvSpPr>
        <p:spPr>
          <a:xfrm>
            <a:off x="10462498" y="23255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Amount Logic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sign of the amount entered determines if it's an income (+) or an expense (-).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809411"/>
            <a:ext cx="6407944" cy="2411254"/>
          </a:xfrm>
          <a:prstGeom prst="roundRect">
            <a:avLst>
              <a:gd name="adj" fmla="val 3951"/>
            </a:avLst>
          </a:prstGeom>
          <a:noFill/>
          <a:ln w="30480">
            <a:solidFill>
              <a:srgbClr val="DDD3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4839891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15" name="Text 13"/>
          <p:cNvSpPr/>
          <p:nvPr/>
        </p:nvSpPr>
        <p:spPr>
          <a:xfrm>
            <a:off x="3827621" y="49635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Display Sections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23756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areas for Current Balance, Total Income, and Total Expenses, providing a quick overview.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809411"/>
            <a:ext cx="6408063" cy="2411254"/>
          </a:xfrm>
          <a:prstGeom prst="roundRect">
            <a:avLst>
              <a:gd name="adj" fmla="val 3951"/>
            </a:avLst>
          </a:prstGeom>
          <a:noFill/>
          <a:ln w="30480">
            <a:solidFill>
              <a:srgbClr val="DDD3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9027" y="4839891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F7EDD4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2498" y="49635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 List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237565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dynamically updated list of all transactions, complete with delete buttons for each entry.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263" y="452795"/>
            <a:ext cx="4318159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Adding Transactions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6263" y="1296710"/>
            <a:ext cx="13477875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process of adding a new transaction is streamlined for user convenience.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3" y="1930360"/>
            <a:ext cx="6538079" cy="653807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23678" y="1930360"/>
            <a:ext cx="370403" cy="370403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5353" y="1961138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058745" y="1986915"/>
            <a:ext cx="2058353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58745" y="2408873"/>
            <a:ext cx="6003012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enter a description and the corresponding numerical amount into designated fields.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23678" y="3264932"/>
            <a:ext cx="370403" cy="370403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5353" y="3295710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058745" y="3321487"/>
            <a:ext cx="2058353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58745" y="3743444"/>
            <a:ext cx="6003012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validates the input to ensure fields are not empty and the amount is numeric.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23678" y="4599503"/>
            <a:ext cx="370403" cy="370403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5353" y="4630281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058745" y="4656058"/>
            <a:ext cx="2058353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 Creation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58745" y="5078016"/>
            <a:ext cx="6003012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transaction object is created, encapsulating the description and amount, and stored within a JavaScript array.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23678" y="5934075"/>
            <a:ext cx="370403" cy="370403"/>
          </a:xfrm>
          <a:prstGeom prst="roundRect">
            <a:avLst>
              <a:gd name="adj" fmla="val 1867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5353" y="5964853"/>
            <a:ext cx="246936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058745" y="5990630"/>
            <a:ext cx="2058353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UI Update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58745" y="6412587"/>
            <a:ext cx="6003012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user interface instantly reflects the new entry, and all financial totals (balance, income, expenses) are recalculated in real-time.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773" y="517565"/>
            <a:ext cx="7350800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Handling and Persistence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58773" y="1482328"/>
            <a:ext cx="13312854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data management is crucial for a seamless user experience: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8773" y="1995130"/>
            <a:ext cx="752951" cy="1129427"/>
          </a:xfrm>
          <a:prstGeom prst="roundRect">
            <a:avLst>
              <a:gd name="adj" fmla="val 360008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40" y="2383393"/>
            <a:ext cx="282297" cy="352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9962" y="2183368"/>
            <a:ext cx="2910483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JavaScript Array Storage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599962" y="2590324"/>
            <a:ext cx="12371665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transaction data is primarily stored within a dynamic JavaScript array, allowing for efficient in-memory manipulation.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773" y="3265646"/>
            <a:ext cx="752951" cy="1393269"/>
          </a:xfrm>
          <a:prstGeom prst="roundRect">
            <a:avLst>
              <a:gd name="adj" fmla="val 360008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40" y="3785830"/>
            <a:ext cx="282297" cy="3529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99962" y="3453884"/>
            <a:ext cx="4173498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 err="1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localStorage</a:t>
            </a: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Persistence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599962" y="3860840"/>
            <a:ext cx="12371665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data to persist across browser sessions, transactions can be saved to and loaded from </a:t>
            </a:r>
            <a:r>
              <a:rPr lang="en-US" sz="145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ensuring user data is retained.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58773" y="4800005"/>
            <a:ext cx="752951" cy="1385649"/>
          </a:xfrm>
          <a:prstGeom prst="roundRect">
            <a:avLst>
              <a:gd name="adj" fmla="val 360008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040" y="5316379"/>
            <a:ext cx="282297" cy="3529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99962" y="4988243"/>
            <a:ext cx="2388751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DOM Manipulation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1599962" y="5395198"/>
            <a:ext cx="12371665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user interface is dynamically updated by manipulating the Document Object Model (DOM) to render the transaction list and financial summaries.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58773" y="6326743"/>
            <a:ext cx="752951" cy="1385649"/>
          </a:xfrm>
          <a:prstGeom prst="roundRect">
            <a:avLst>
              <a:gd name="adj" fmla="val 360008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40" y="6843117"/>
            <a:ext cx="282297" cy="3529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99962" y="6514981"/>
            <a:ext cx="2352913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Event Listeners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1599962" y="6921937"/>
            <a:ext cx="12371665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Robust event listeners are implemented to capture and respond to user interactions, such as form submissions and clicks on delete/edit buttons.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420939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Challenges and Learning Outcomes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Management: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Efficiently managing the application's state and ensuring the UI consistently reflects the underlying data.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76796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Validation: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Implementing robust validation and clear error handling for user inputs to prevent malformed data.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3499961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 Responsiveness: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Striking a balance between creating a highly responsive user interface and maintaining concise, simple code.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4561880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Practical JavaScript Skills:</a:t>
            </a:r>
            <a:r>
              <a:rPr lang="en-US" sz="16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Gaining hands-on experience with JavaScript event handling, DOM manipulation, and dynamic content rendering.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BACA1A-EE67-446B-75E6-FAFEE2AAD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1" y="1402040"/>
            <a:ext cx="11837504" cy="6658596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FA02E2D-2DC3-F485-9A8F-04C40AF6EDF6}"/>
              </a:ext>
            </a:extLst>
          </p:cNvPr>
          <p:cNvSpPr/>
          <p:nvPr/>
        </p:nvSpPr>
        <p:spPr>
          <a:xfrm>
            <a:off x="721638" y="566976"/>
            <a:ext cx="9420939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Screenshots:</a:t>
            </a:r>
            <a:endParaRPr lang="en-US" sz="4050" dirty="0"/>
          </a:p>
        </p:txBody>
      </p:sp>
    </p:spTree>
    <p:extLst>
      <p:ext uri="{BB962C8B-B14F-4D97-AF65-F5344CB8AC3E}">
        <p14:creationId xmlns:p14="http://schemas.microsoft.com/office/powerpoint/2010/main" val="399313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E866-D2DE-7001-5257-B99763AC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40BA27D-CE4A-4503-4DD2-3EC8F4CAB8E8}"/>
              </a:ext>
            </a:extLst>
          </p:cNvPr>
          <p:cNvSpPr/>
          <p:nvPr/>
        </p:nvSpPr>
        <p:spPr>
          <a:xfrm>
            <a:off x="721638" y="566976"/>
            <a:ext cx="9420939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Screenshots:</a:t>
            </a:r>
            <a:endParaRPr lang="en-US" sz="4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5563B2-7AFC-D8D4-7A2D-2332BCF0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832" y="1428956"/>
            <a:ext cx="1160145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71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580</Words>
  <Application>Microsoft Office PowerPoint</Application>
  <PresentationFormat>Custom</PresentationFormat>
  <Paragraphs>76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DM Sans</vt:lpstr>
      <vt:lpstr>Calibri</vt:lpstr>
      <vt:lpstr>Libre Baskerville</vt:lpstr>
      <vt:lpstr>Calibri Light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Adnan Khan</dc:creator>
  <cp:lastModifiedBy>Adnan Khan</cp:lastModifiedBy>
  <cp:revision>22</cp:revision>
  <dcterms:created xsi:type="dcterms:W3CDTF">2025-07-12T12:07:46Z</dcterms:created>
  <dcterms:modified xsi:type="dcterms:W3CDTF">2025-07-24T05:04:03Z</dcterms:modified>
</cp:coreProperties>
</file>